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DM Sans Bold" panose="020B0604020202020204" charset="0"/>
      <p:regular r:id="rId25"/>
    </p:embeddedFont>
    <p:embeddedFont>
      <p:font typeface="Georgia Pro" panose="02040502050405020303" pitchFamily="18" charset="0"/>
      <p:regular r:id="rId26"/>
    </p:embeddedFont>
    <p:embeddedFont>
      <p:font typeface="Georgia Pro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38"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8991600" cy="10287000"/>
            <a:chOff x="0" y="0"/>
            <a:chExt cx="1035548" cy="1184737"/>
          </a:xfrm>
        </p:grpSpPr>
        <p:sp>
          <p:nvSpPr>
            <p:cNvPr id="3" name="Freeform 3"/>
            <p:cNvSpPr/>
            <p:nvPr/>
          </p:nvSpPr>
          <p:spPr>
            <a:xfrm>
              <a:off x="0" y="0"/>
              <a:ext cx="1035548" cy="1184737"/>
            </a:xfrm>
            <a:custGeom>
              <a:avLst/>
              <a:gdLst/>
              <a:ahLst/>
              <a:cxnLst/>
              <a:rect l="l" t="t" r="r" b="b"/>
              <a:pathLst>
                <a:path w="1035548" h="1184737">
                  <a:moveTo>
                    <a:pt x="0" y="0"/>
                  </a:moveTo>
                  <a:lnTo>
                    <a:pt x="1035548" y="0"/>
                  </a:lnTo>
                  <a:lnTo>
                    <a:pt x="1035548" y="1184737"/>
                  </a:lnTo>
                  <a:lnTo>
                    <a:pt x="0" y="1184737"/>
                  </a:lnTo>
                  <a:close/>
                </a:path>
              </a:pathLst>
            </a:custGeom>
            <a:blipFill>
              <a:blip r:embed="rId2"/>
              <a:stretch>
                <a:fillRect t="-597" b="-597"/>
              </a:stretch>
            </a:blipFill>
          </p:spPr>
        </p:sp>
      </p:grpSp>
      <p:grpSp>
        <p:nvGrpSpPr>
          <p:cNvPr id="4" name="Group 4"/>
          <p:cNvGrpSpPr/>
          <p:nvPr/>
        </p:nvGrpSpPr>
        <p:grpSpPr>
          <a:xfrm>
            <a:off x="10382250" y="910190"/>
            <a:ext cx="6877050" cy="1167883"/>
            <a:chOff x="0" y="0"/>
            <a:chExt cx="9169400" cy="1557177"/>
          </a:xfrm>
        </p:grpSpPr>
        <p:sp>
          <p:nvSpPr>
            <p:cNvPr id="5" name="Freeform 5"/>
            <p:cNvSpPr/>
            <p:nvPr/>
          </p:nvSpPr>
          <p:spPr>
            <a:xfrm rot="-5400000" flipH="1">
              <a:off x="36553" y="74861"/>
              <a:ext cx="555143" cy="628248"/>
            </a:xfrm>
            <a:custGeom>
              <a:avLst/>
              <a:gdLst/>
              <a:ahLst/>
              <a:cxnLst/>
              <a:rect l="l" t="t" r="r" b="b"/>
              <a:pathLst>
                <a:path w="555143" h="628248">
                  <a:moveTo>
                    <a:pt x="555143" y="0"/>
                  </a:moveTo>
                  <a:lnTo>
                    <a:pt x="0" y="0"/>
                  </a:lnTo>
                  <a:lnTo>
                    <a:pt x="0" y="628248"/>
                  </a:lnTo>
                  <a:lnTo>
                    <a:pt x="555143" y="628248"/>
                  </a:lnTo>
                  <a:lnTo>
                    <a:pt x="5551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95304" y="190500"/>
              <a:ext cx="8374096" cy="1366677"/>
            </a:xfrm>
            <a:prstGeom prst="rect">
              <a:avLst/>
            </a:prstGeom>
          </p:spPr>
          <p:txBody>
            <a:bodyPr lIns="0" tIns="0" rIns="0" bIns="0" rtlCol="0" anchor="t">
              <a:spAutoFit/>
            </a:bodyPr>
            <a:lstStyle/>
            <a:p>
              <a:pPr marL="0" lvl="0" indent="0" algn="l">
                <a:lnSpc>
                  <a:spcPts val="7050"/>
                </a:lnSpc>
              </a:pPr>
              <a:r>
                <a:rPr lang="en-US" sz="7664" b="1" spc="-153">
                  <a:solidFill>
                    <a:srgbClr val="A7D7C5"/>
                  </a:solidFill>
                  <a:latin typeface="Georgia Pro Bold"/>
                  <a:ea typeface="Georgia Pro Bold"/>
                  <a:cs typeface="Georgia Pro Bold"/>
                  <a:sym typeface="Georgia Pro Bold"/>
                </a:rPr>
                <a:t>SeoulBike</a:t>
              </a:r>
            </a:p>
          </p:txBody>
        </p:sp>
      </p:grpSp>
      <p:grpSp>
        <p:nvGrpSpPr>
          <p:cNvPr id="7" name="Group 7"/>
          <p:cNvGrpSpPr/>
          <p:nvPr/>
        </p:nvGrpSpPr>
        <p:grpSpPr>
          <a:xfrm>
            <a:off x="10382250" y="2498410"/>
            <a:ext cx="6886575" cy="3878648"/>
            <a:chOff x="0" y="0"/>
            <a:chExt cx="9182100" cy="5171531"/>
          </a:xfrm>
        </p:grpSpPr>
        <p:sp>
          <p:nvSpPr>
            <p:cNvPr id="8" name="TextBox 8"/>
            <p:cNvSpPr txBox="1"/>
            <p:nvPr/>
          </p:nvSpPr>
          <p:spPr>
            <a:xfrm>
              <a:off x="0" y="200025"/>
              <a:ext cx="9182100" cy="3686167"/>
            </a:xfrm>
            <a:prstGeom prst="rect">
              <a:avLst/>
            </a:prstGeom>
          </p:spPr>
          <p:txBody>
            <a:bodyPr lIns="0" tIns="0" rIns="0" bIns="0" rtlCol="0" anchor="t">
              <a:spAutoFit/>
            </a:bodyPr>
            <a:lstStyle/>
            <a:p>
              <a:pPr marL="0" lvl="0" indent="0" algn="l">
                <a:lnSpc>
                  <a:spcPts val="10499"/>
                </a:lnSpc>
              </a:pPr>
              <a:r>
                <a:rPr lang="en-US" sz="10499" b="1">
                  <a:solidFill>
                    <a:srgbClr val="FFFFFF"/>
                  </a:solidFill>
                  <a:latin typeface="Georgia Pro Bold"/>
                  <a:ea typeface="Georgia Pro Bold"/>
                  <a:cs typeface="Georgia Pro Bold"/>
                  <a:sym typeface="Georgia Pro Bold"/>
                </a:rPr>
                <a:t>Explore Seoul</a:t>
              </a:r>
            </a:p>
          </p:txBody>
        </p:sp>
        <p:sp>
          <p:nvSpPr>
            <p:cNvPr id="9" name="TextBox 9"/>
            <p:cNvSpPr txBox="1"/>
            <p:nvPr/>
          </p:nvSpPr>
          <p:spPr>
            <a:xfrm>
              <a:off x="0" y="4108540"/>
              <a:ext cx="9172670" cy="1062991"/>
            </a:xfrm>
            <a:prstGeom prst="rect">
              <a:avLst/>
            </a:prstGeom>
          </p:spPr>
          <p:txBody>
            <a:bodyPr lIns="0" tIns="0" rIns="0" bIns="0" rtlCol="0" anchor="t">
              <a:spAutoFit/>
            </a:bodyPr>
            <a:lstStyle/>
            <a:p>
              <a:pPr marL="0" lvl="0" indent="0" algn="l">
                <a:lnSpc>
                  <a:spcPts val="6719"/>
                </a:lnSpc>
              </a:pPr>
              <a:r>
                <a:rPr lang="en-US" sz="4799" b="1">
                  <a:solidFill>
                    <a:srgbClr val="FFFFFF"/>
                  </a:solidFill>
                  <a:latin typeface="DM Sans Bold"/>
                  <a:ea typeface="DM Sans Bold"/>
                  <a:cs typeface="DM Sans Bold"/>
                  <a:sym typeface="DM Sans Bold"/>
                </a:rPr>
                <a:t>On Two Wheels</a:t>
              </a:r>
            </a:p>
          </p:txBody>
        </p:sp>
      </p:grpSp>
      <p:grpSp>
        <p:nvGrpSpPr>
          <p:cNvPr id="10" name="Group 10"/>
          <p:cNvGrpSpPr/>
          <p:nvPr/>
        </p:nvGrpSpPr>
        <p:grpSpPr>
          <a:xfrm>
            <a:off x="10382250" y="7733493"/>
            <a:ext cx="6515100" cy="1640765"/>
            <a:chOff x="0" y="0"/>
            <a:chExt cx="8686800" cy="2187686"/>
          </a:xfrm>
        </p:grpSpPr>
        <p:sp>
          <p:nvSpPr>
            <p:cNvPr id="11" name="TextBox 11"/>
            <p:cNvSpPr txBox="1"/>
            <p:nvPr/>
          </p:nvSpPr>
          <p:spPr>
            <a:xfrm>
              <a:off x="0" y="1167190"/>
              <a:ext cx="8686800" cy="1020497"/>
            </a:xfrm>
            <a:prstGeom prst="rect">
              <a:avLst/>
            </a:prstGeom>
          </p:spPr>
          <p:txBody>
            <a:bodyPr lIns="0" tIns="0" rIns="0" bIns="0" rtlCol="0" anchor="t">
              <a:spAutoFit/>
            </a:bodyPr>
            <a:lstStyle/>
            <a:p>
              <a:pPr marL="0" lvl="0" indent="0" algn="l">
                <a:lnSpc>
                  <a:spcPts val="6507"/>
                </a:lnSpc>
                <a:spcBef>
                  <a:spcPct val="0"/>
                </a:spcBef>
              </a:pPr>
              <a:r>
                <a:rPr lang="en-US" sz="4648" b="1">
                  <a:solidFill>
                    <a:srgbClr val="FFFFFF"/>
                  </a:solidFill>
                  <a:latin typeface="DM Sans Bold"/>
                  <a:ea typeface="DM Sans Bold"/>
                  <a:cs typeface="DM Sans Bold"/>
                  <a:sym typeface="DM Sans Bold"/>
                </a:rPr>
                <a:t> Pallavi Sanjay Jadhav</a:t>
              </a:r>
            </a:p>
          </p:txBody>
        </p:sp>
        <p:sp>
          <p:nvSpPr>
            <p:cNvPr id="12" name="TextBox 12"/>
            <p:cNvSpPr txBox="1"/>
            <p:nvPr/>
          </p:nvSpPr>
          <p:spPr>
            <a:xfrm>
              <a:off x="0" y="-104775"/>
              <a:ext cx="8686800" cy="1126758"/>
            </a:xfrm>
            <a:prstGeom prst="rect">
              <a:avLst/>
            </a:prstGeom>
          </p:spPr>
          <p:txBody>
            <a:bodyPr lIns="0" tIns="0" rIns="0" bIns="0" rtlCol="0" anchor="t">
              <a:spAutoFit/>
            </a:bodyPr>
            <a:lstStyle/>
            <a:p>
              <a:pPr marL="0" lvl="0" indent="0" algn="l">
                <a:lnSpc>
                  <a:spcPts val="7102"/>
                </a:lnSpc>
                <a:spcBef>
                  <a:spcPct val="0"/>
                </a:spcBef>
              </a:pPr>
              <a:r>
                <a:rPr lang="en-US" sz="5073" b="1">
                  <a:solidFill>
                    <a:srgbClr val="FFFFFF"/>
                  </a:solidFill>
                  <a:latin typeface="DM Sans Bold"/>
                  <a:ea typeface="DM Sans Bold"/>
                  <a:cs typeface="DM Sans Bold"/>
                  <a:sym typeface="DM Sans Bold"/>
                </a:rPr>
                <a:t>PRESENTED BY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sp>
        <p:nvSpPr>
          <p:cNvPr id="4" name="TextBox 4"/>
          <p:cNvSpPr txBox="1"/>
          <p:nvPr/>
        </p:nvSpPr>
        <p:spPr>
          <a:xfrm>
            <a:off x="313555" y="1095375"/>
            <a:ext cx="11583096" cy="1190927"/>
          </a:xfrm>
          <a:prstGeom prst="rect">
            <a:avLst/>
          </a:prstGeom>
        </p:spPr>
        <p:txBody>
          <a:bodyPr lIns="0" tIns="0" rIns="0" bIns="0" rtlCol="0" anchor="t">
            <a:spAutoFit/>
          </a:bodyPr>
          <a:lstStyle/>
          <a:p>
            <a:pPr marL="0" lvl="0" indent="0" algn="l">
              <a:lnSpc>
                <a:spcPts val="9101"/>
              </a:lnSpc>
            </a:pPr>
            <a:r>
              <a:rPr lang="en-US" sz="8273" b="1">
                <a:solidFill>
                  <a:srgbClr val="FFFFFF"/>
                </a:solidFill>
                <a:latin typeface="Georgia Pro Bold"/>
                <a:ea typeface="Georgia Pro Bold"/>
                <a:cs typeface="Georgia Pro Bold"/>
                <a:sym typeface="Georgia Pro Bold"/>
              </a:rPr>
              <a:t>▶What is SeoulBike?</a:t>
            </a:r>
          </a:p>
        </p:txBody>
      </p:sp>
      <p:sp>
        <p:nvSpPr>
          <p:cNvPr id="5" name="TextBox 5"/>
          <p:cNvSpPr txBox="1"/>
          <p:nvPr/>
        </p:nvSpPr>
        <p:spPr>
          <a:xfrm>
            <a:off x="1028700" y="3300626"/>
            <a:ext cx="7897606" cy="6545979"/>
          </a:xfrm>
          <a:prstGeom prst="rect">
            <a:avLst/>
          </a:prstGeom>
        </p:spPr>
        <p:txBody>
          <a:bodyPr lIns="0" tIns="0" rIns="0" bIns="0" rtlCol="0" anchor="t">
            <a:spAutoFit/>
          </a:bodyPr>
          <a:lstStyle/>
          <a:p>
            <a:pPr marL="0" lvl="0" indent="0" algn="l">
              <a:lnSpc>
                <a:spcPts val="6507"/>
              </a:lnSpc>
            </a:pPr>
            <a:r>
              <a:rPr lang="en-US" sz="4648" b="1">
                <a:solidFill>
                  <a:srgbClr val="1D1C24"/>
                </a:solidFill>
                <a:latin typeface="DM Sans Bold"/>
                <a:ea typeface="DM Sans Bold"/>
                <a:cs typeface="DM Sans Bold"/>
                <a:sym typeface="DM Sans Bold"/>
              </a:rPr>
              <a:t>SeoulBike is an innovative public bicycle sharing system designed to make exploring Seoul convenient and eco-friendly, promoting a healthier lifestyle for its residents and visitors.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8724841"/>
            <a:chOff x="0" y="0"/>
            <a:chExt cx="11099800" cy="11633121"/>
          </a:xfrm>
        </p:grpSpPr>
        <p:sp>
          <p:nvSpPr>
            <p:cNvPr id="5" name="TextBox 5"/>
            <p:cNvSpPr txBox="1"/>
            <p:nvPr/>
          </p:nvSpPr>
          <p:spPr>
            <a:xfrm>
              <a:off x="0" y="76200"/>
              <a:ext cx="11099800" cy="1711114"/>
            </a:xfrm>
            <a:prstGeom prst="rect">
              <a:avLst/>
            </a:prstGeom>
          </p:spPr>
          <p:txBody>
            <a:bodyPr lIns="0" tIns="0" rIns="0" bIns="0" rtlCol="0" anchor="t">
              <a:spAutoFit/>
            </a:bodyPr>
            <a:lstStyle/>
            <a:p>
              <a:pPr marL="0" lvl="0" indent="0" algn="l">
                <a:lnSpc>
                  <a:spcPts val="9680"/>
                </a:lnSpc>
              </a:pPr>
              <a:r>
                <a:rPr lang="en-US" sz="8800" b="1">
                  <a:solidFill>
                    <a:srgbClr val="E8ECF6"/>
                  </a:solidFill>
                  <a:latin typeface="Georgia Pro Bold"/>
                  <a:ea typeface="Georgia Pro Bold"/>
                  <a:cs typeface="Georgia Pro Bold"/>
                  <a:sym typeface="Georgia Pro Bold"/>
                </a:rPr>
                <a:t>▶How to Use</a:t>
              </a:r>
            </a:p>
          </p:txBody>
        </p:sp>
        <p:sp>
          <p:nvSpPr>
            <p:cNvPr id="6" name="TextBox 6"/>
            <p:cNvSpPr txBox="1"/>
            <p:nvPr/>
          </p:nvSpPr>
          <p:spPr>
            <a:xfrm>
              <a:off x="0" y="3439502"/>
              <a:ext cx="11099800" cy="8193619"/>
            </a:xfrm>
            <a:prstGeom prst="rect">
              <a:avLst/>
            </a:prstGeom>
          </p:spPr>
          <p:txBody>
            <a:bodyPr lIns="0" tIns="0" rIns="0" bIns="0" rtlCol="0" anchor="t">
              <a:spAutoFit/>
            </a:bodyPr>
            <a:lstStyle/>
            <a:p>
              <a:pPr marL="0" lvl="0" indent="0" algn="l">
                <a:lnSpc>
                  <a:spcPts val="6999"/>
                </a:lnSpc>
              </a:pPr>
              <a:r>
                <a:rPr lang="en-US" sz="4999" b="1">
                  <a:solidFill>
                    <a:srgbClr val="1D1C24"/>
                  </a:solidFill>
                  <a:latin typeface="DM Sans Bold"/>
                  <a:ea typeface="DM Sans Bold"/>
                  <a:cs typeface="DM Sans Bold"/>
                  <a:sym typeface="DM Sans Bold"/>
                </a:rPr>
                <a:t>Renting and returning bikes with SeoulBike is easy! Follow our simple steps using the user-friendly mobile app to explore the city efficiently and enjoyably.</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9822956" cy="8391332"/>
            <a:chOff x="0" y="0"/>
            <a:chExt cx="13097274" cy="11188443"/>
          </a:xfrm>
        </p:grpSpPr>
        <p:sp>
          <p:nvSpPr>
            <p:cNvPr id="5" name="TextBox 5"/>
            <p:cNvSpPr txBox="1"/>
            <p:nvPr/>
          </p:nvSpPr>
          <p:spPr>
            <a:xfrm>
              <a:off x="0" y="76200"/>
              <a:ext cx="13097274" cy="3137835"/>
            </a:xfrm>
            <a:prstGeom prst="rect">
              <a:avLst/>
            </a:prstGeom>
          </p:spPr>
          <p:txBody>
            <a:bodyPr lIns="0" tIns="0" rIns="0" bIns="0" rtlCol="0" anchor="t">
              <a:spAutoFit/>
            </a:bodyPr>
            <a:lstStyle/>
            <a:p>
              <a:pPr marL="0" lvl="0" indent="0" algn="l">
                <a:lnSpc>
                  <a:spcPts val="9135"/>
                </a:lnSpc>
              </a:pPr>
              <a:r>
                <a:rPr lang="en-US" sz="8305" b="1">
                  <a:solidFill>
                    <a:srgbClr val="FFFFFF"/>
                  </a:solidFill>
                  <a:latin typeface="Georgia Pro Bold"/>
                  <a:ea typeface="Georgia Pro Bold"/>
                  <a:cs typeface="Georgia Pro Bold"/>
                  <a:sym typeface="Georgia Pro Bold"/>
                </a:rPr>
                <a:t>▶Benefits of SeoulBike</a:t>
              </a:r>
            </a:p>
          </p:txBody>
        </p:sp>
        <p:sp>
          <p:nvSpPr>
            <p:cNvPr id="6" name="TextBox 6"/>
            <p:cNvSpPr txBox="1"/>
            <p:nvPr/>
          </p:nvSpPr>
          <p:spPr>
            <a:xfrm>
              <a:off x="0" y="4564914"/>
              <a:ext cx="12223385" cy="6623529"/>
            </a:xfrm>
            <a:prstGeom prst="rect">
              <a:avLst/>
            </a:prstGeom>
          </p:spPr>
          <p:txBody>
            <a:bodyPr lIns="0" tIns="0" rIns="0" bIns="0" rtlCol="0" anchor="t">
              <a:spAutoFit/>
            </a:bodyPr>
            <a:lstStyle/>
            <a:p>
              <a:pPr marL="0" lvl="0" indent="0" algn="l">
                <a:lnSpc>
                  <a:spcPts val="6606"/>
                </a:lnSpc>
              </a:pPr>
              <a:r>
                <a:rPr lang="en-US" sz="4718" b="1">
                  <a:solidFill>
                    <a:srgbClr val="1D1C24"/>
                  </a:solidFill>
                  <a:latin typeface="DM Sans Bold"/>
                  <a:ea typeface="DM Sans Bold"/>
                  <a:cs typeface="DM Sans Bold"/>
                  <a:sym typeface="DM Sans Bold"/>
                </a:rPr>
                <a:t>SeoulBike promotes eco-friendly transportation while encouraging a healthy lifestyle. By cycling, you can reduce your carbon footprint and enjoy the beautiful cityscape of Seoul.</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849225" y="866775"/>
            <a:ext cx="10534114" cy="1427199"/>
          </a:xfrm>
          <a:prstGeom prst="rect">
            <a:avLst/>
          </a:prstGeom>
        </p:spPr>
        <p:txBody>
          <a:bodyPr lIns="0" tIns="0" rIns="0" bIns="0" rtlCol="0" anchor="t">
            <a:spAutoFit/>
          </a:bodyPr>
          <a:lstStyle/>
          <a:p>
            <a:pPr algn="l">
              <a:lnSpc>
                <a:spcPts val="11635"/>
              </a:lnSpc>
              <a:spcBef>
                <a:spcPct val="0"/>
              </a:spcBef>
            </a:pPr>
            <a:r>
              <a:rPr lang="en-US" sz="8311" b="1">
                <a:solidFill>
                  <a:srgbClr val="EAECEB"/>
                </a:solidFill>
                <a:latin typeface="DM Sans Bold"/>
                <a:ea typeface="DM Sans Bold"/>
                <a:cs typeface="DM Sans Bold"/>
                <a:sym typeface="DM Sans Bold"/>
              </a:rPr>
              <a:t>▶ Project Summary</a:t>
            </a:r>
          </a:p>
        </p:txBody>
      </p:sp>
      <p:sp>
        <p:nvSpPr>
          <p:cNvPr id="3" name="TextBox 3"/>
          <p:cNvSpPr txBox="1"/>
          <p:nvPr/>
        </p:nvSpPr>
        <p:spPr>
          <a:xfrm>
            <a:off x="1754000" y="2853822"/>
            <a:ext cx="14780000" cy="6502437"/>
          </a:xfrm>
          <a:prstGeom prst="rect">
            <a:avLst/>
          </a:prstGeom>
        </p:spPr>
        <p:txBody>
          <a:bodyPr lIns="0" tIns="0" rIns="0" bIns="0" rtlCol="0" anchor="t">
            <a:spAutoFit/>
          </a:bodyPr>
          <a:lstStyle/>
          <a:p>
            <a:pPr algn="ctr">
              <a:lnSpc>
                <a:spcPts val="3994"/>
              </a:lnSpc>
              <a:spcBef>
                <a:spcPct val="0"/>
              </a:spcBef>
            </a:pPr>
            <a:r>
              <a:rPr lang="en-US" sz="3631" b="1">
                <a:solidFill>
                  <a:srgbClr val="000000"/>
                </a:solidFill>
                <a:latin typeface="Georgia Pro Bold"/>
                <a:ea typeface="Georgia Pro Bold"/>
                <a:cs typeface="Georgia Pro Bold"/>
                <a:sym typeface="Georgia Pro Bold"/>
              </a:rPr>
              <a:t>The Seoul Bike Data project highlights how weather and time factors shape bike rental demand in the city.</a:t>
            </a:r>
          </a:p>
          <a:p>
            <a:pPr algn="ctr">
              <a:lnSpc>
                <a:spcPts val="3994"/>
              </a:lnSpc>
              <a:spcBef>
                <a:spcPct val="0"/>
              </a:spcBef>
            </a:pPr>
            <a:endParaRPr lang="en-US" sz="3631" b="1">
              <a:solidFill>
                <a:srgbClr val="000000"/>
              </a:solidFill>
              <a:latin typeface="Georgia Pro Bold"/>
              <a:ea typeface="Georgia Pro Bold"/>
              <a:cs typeface="Georgia Pro Bold"/>
              <a:sym typeface="Georgia Pro Bold"/>
            </a:endParaRPr>
          </a:p>
          <a:p>
            <a:pPr algn="ctr">
              <a:lnSpc>
                <a:spcPts val="3994"/>
              </a:lnSpc>
              <a:spcBef>
                <a:spcPct val="0"/>
              </a:spcBef>
            </a:pPr>
            <a:r>
              <a:rPr lang="en-US" sz="3631" b="1">
                <a:solidFill>
                  <a:srgbClr val="000000"/>
                </a:solidFill>
                <a:latin typeface="Georgia Pro Bold"/>
                <a:ea typeface="Georgia Pro Bold"/>
                <a:cs typeface="Georgia Pro Bold"/>
                <a:sym typeface="Georgia Pro Bold"/>
              </a:rPr>
              <a:t>By analyzing hourly data with features like temperature, humidity, rainfall, snowfall, and holiday indicators.</a:t>
            </a:r>
          </a:p>
          <a:p>
            <a:pPr algn="ctr">
              <a:lnSpc>
                <a:spcPts val="3994"/>
              </a:lnSpc>
              <a:spcBef>
                <a:spcPct val="0"/>
              </a:spcBef>
            </a:pPr>
            <a:endParaRPr lang="en-US" sz="3631" b="1">
              <a:solidFill>
                <a:srgbClr val="000000"/>
              </a:solidFill>
              <a:latin typeface="Georgia Pro Bold"/>
              <a:ea typeface="Georgia Pro Bold"/>
              <a:cs typeface="Georgia Pro Bold"/>
              <a:sym typeface="Georgia Pro Bold"/>
            </a:endParaRPr>
          </a:p>
          <a:p>
            <a:pPr algn="ctr">
              <a:lnSpc>
                <a:spcPts val="3994"/>
              </a:lnSpc>
              <a:spcBef>
                <a:spcPct val="0"/>
              </a:spcBef>
            </a:pPr>
            <a:r>
              <a:rPr lang="en-US" sz="3631" b="1">
                <a:solidFill>
                  <a:srgbClr val="000000"/>
                </a:solidFill>
                <a:latin typeface="Georgia Pro Bold"/>
                <a:ea typeface="Georgia Pro Bold"/>
                <a:cs typeface="Georgia Pro Bold"/>
                <a:sym typeface="Georgia Pro Bold"/>
              </a:rPr>
              <a:t>The study shows that rentals peak during commuting hours, rise in summer and autumn, and drop sharply in bad weather.</a:t>
            </a:r>
          </a:p>
          <a:p>
            <a:pPr algn="ctr">
              <a:lnSpc>
                <a:spcPts val="3994"/>
              </a:lnSpc>
              <a:spcBef>
                <a:spcPct val="0"/>
              </a:spcBef>
            </a:pPr>
            <a:endParaRPr lang="en-US" sz="3631" b="1">
              <a:solidFill>
                <a:srgbClr val="000000"/>
              </a:solidFill>
              <a:latin typeface="Georgia Pro Bold"/>
              <a:ea typeface="Georgia Pro Bold"/>
              <a:cs typeface="Georgia Pro Bold"/>
              <a:sym typeface="Georgia Pro Bold"/>
            </a:endParaRPr>
          </a:p>
          <a:p>
            <a:pPr algn="ctr">
              <a:lnSpc>
                <a:spcPts val="3994"/>
              </a:lnSpc>
              <a:spcBef>
                <a:spcPct val="0"/>
              </a:spcBef>
            </a:pPr>
            <a:r>
              <a:rPr lang="en-US" sz="3631" b="1">
                <a:solidFill>
                  <a:srgbClr val="000000"/>
                </a:solidFill>
                <a:latin typeface="Georgia Pro Bold"/>
                <a:ea typeface="Georgia Pro Bold"/>
                <a:cs typeface="Georgia Pro Bold"/>
                <a:sym typeface="Georgia Pro Bold"/>
              </a:rPr>
              <a:t>The temperature and seasonality emerging as the most influential drivers. Overall, the project provides clear insights to improve bike availability, support urban mobility, and promote sustainable transport in Seoul.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04900"/>
            <a:ext cx="11843981" cy="1181801"/>
          </a:xfrm>
          <a:prstGeom prst="rect">
            <a:avLst/>
          </a:prstGeom>
        </p:spPr>
        <p:txBody>
          <a:bodyPr lIns="0" tIns="0" rIns="0" bIns="0" rtlCol="0" anchor="t">
            <a:spAutoFit/>
          </a:bodyPr>
          <a:lstStyle/>
          <a:p>
            <a:pPr algn="ctr">
              <a:lnSpc>
                <a:spcPts val="9135"/>
              </a:lnSpc>
              <a:spcBef>
                <a:spcPct val="0"/>
              </a:spcBef>
            </a:pPr>
            <a:r>
              <a:rPr lang="en-US" sz="8305" b="1">
                <a:solidFill>
                  <a:srgbClr val="FFFFFF"/>
                </a:solidFill>
                <a:latin typeface="Georgia Pro Bold"/>
                <a:ea typeface="Georgia Pro Bold"/>
                <a:cs typeface="Georgia Pro Bold"/>
                <a:sym typeface="Georgia Pro Bold"/>
              </a:rPr>
              <a:t>▶ Problem Statement</a:t>
            </a:r>
          </a:p>
        </p:txBody>
      </p:sp>
      <p:sp>
        <p:nvSpPr>
          <p:cNvPr id="3" name="TextBox 3"/>
          <p:cNvSpPr txBox="1"/>
          <p:nvPr/>
        </p:nvSpPr>
        <p:spPr>
          <a:xfrm>
            <a:off x="1924247" y="3123692"/>
            <a:ext cx="14439506" cy="6704881"/>
          </a:xfrm>
          <a:prstGeom prst="rect">
            <a:avLst/>
          </a:prstGeom>
        </p:spPr>
        <p:txBody>
          <a:bodyPr lIns="0" tIns="0" rIns="0" bIns="0" rtlCol="0" anchor="t">
            <a:spAutoFit/>
          </a:bodyPr>
          <a:lstStyle/>
          <a:p>
            <a:pPr algn="ctr">
              <a:lnSpc>
                <a:spcPts val="4062"/>
              </a:lnSpc>
              <a:spcBef>
                <a:spcPct val="0"/>
              </a:spcBef>
            </a:pPr>
            <a:r>
              <a:rPr lang="en-US" sz="3693" b="1">
                <a:solidFill>
                  <a:srgbClr val="000000"/>
                </a:solidFill>
                <a:latin typeface="Georgia Pro Bold"/>
                <a:ea typeface="Georgia Pro Bold"/>
                <a:cs typeface="Georgia Pro Bold"/>
                <a:sym typeface="Georgia Pro Bold"/>
              </a:rPr>
              <a:t>The core problem addressed in the Seoul Bike dataset is the challenge of predicting hourly rental demand so that bikes are available when and where people need them.</a:t>
            </a:r>
          </a:p>
          <a:p>
            <a:pPr algn="ctr">
              <a:lnSpc>
                <a:spcPts val="4062"/>
              </a:lnSpc>
              <a:spcBef>
                <a:spcPct val="0"/>
              </a:spcBef>
            </a:pPr>
            <a:endParaRPr lang="en-US" sz="3693" b="1">
              <a:solidFill>
                <a:srgbClr val="000000"/>
              </a:solidFill>
              <a:latin typeface="Georgia Pro Bold"/>
              <a:ea typeface="Georgia Pro Bold"/>
              <a:cs typeface="Georgia Pro Bold"/>
              <a:sym typeface="Georgia Pro Bold"/>
            </a:endParaRPr>
          </a:p>
          <a:p>
            <a:pPr algn="ctr">
              <a:lnSpc>
                <a:spcPts val="4062"/>
              </a:lnSpc>
              <a:spcBef>
                <a:spcPct val="0"/>
              </a:spcBef>
            </a:pPr>
            <a:r>
              <a:rPr lang="en-US" sz="3693" b="1">
                <a:solidFill>
                  <a:srgbClr val="000000"/>
                </a:solidFill>
                <a:latin typeface="Georgia Pro Bold"/>
                <a:ea typeface="Georgia Pro Bold"/>
                <a:cs typeface="Georgia Pro Bold"/>
                <a:sym typeface="Georgia Pro Bold"/>
              </a:rPr>
              <a:t>Demand fluctuates based on weather conditions, seasons, holidays, and commuting hours, making it difficult to maintain an optimal supply. Without accurate forecasting, users may face shortages during peak times or excess bikes during low demand periods.</a:t>
            </a:r>
          </a:p>
          <a:p>
            <a:pPr algn="ctr">
              <a:lnSpc>
                <a:spcPts val="4062"/>
              </a:lnSpc>
              <a:spcBef>
                <a:spcPct val="0"/>
              </a:spcBef>
            </a:pPr>
            <a:endParaRPr lang="en-US" sz="3693" b="1">
              <a:solidFill>
                <a:srgbClr val="000000"/>
              </a:solidFill>
              <a:latin typeface="Georgia Pro Bold"/>
              <a:ea typeface="Georgia Pro Bold"/>
              <a:cs typeface="Georgia Pro Bold"/>
              <a:sym typeface="Georgia Pro Bold"/>
            </a:endParaRPr>
          </a:p>
          <a:p>
            <a:pPr algn="ctr">
              <a:lnSpc>
                <a:spcPts val="4062"/>
              </a:lnSpc>
              <a:spcBef>
                <a:spcPct val="0"/>
              </a:spcBef>
            </a:pPr>
            <a:r>
              <a:rPr lang="en-US" sz="3693" b="1">
                <a:solidFill>
                  <a:srgbClr val="000000"/>
                </a:solidFill>
                <a:latin typeface="Georgia Pro Bold"/>
                <a:ea typeface="Georgia Pro Bold"/>
                <a:cs typeface="Georgia Pro Bold"/>
                <a:sym typeface="Georgia Pro Bold"/>
              </a:rPr>
              <a:t>This project aims to build reliable prediction models that help optimize bike distribution, improve urban mobility, and support sustainable transportation planning in Seoul.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095375"/>
            <a:ext cx="16637437" cy="1045423"/>
          </a:xfrm>
          <a:prstGeom prst="rect">
            <a:avLst/>
          </a:prstGeom>
        </p:spPr>
        <p:txBody>
          <a:bodyPr lIns="0" tIns="0" rIns="0" bIns="0" rtlCol="0" anchor="t">
            <a:spAutoFit/>
          </a:bodyPr>
          <a:lstStyle/>
          <a:p>
            <a:pPr algn="ctr">
              <a:lnSpc>
                <a:spcPts val="8048"/>
              </a:lnSpc>
              <a:spcBef>
                <a:spcPct val="0"/>
              </a:spcBef>
            </a:pPr>
            <a:r>
              <a:rPr lang="en-US" sz="7316" b="1">
                <a:solidFill>
                  <a:srgbClr val="FFFFFF"/>
                </a:solidFill>
                <a:latin typeface="Georgia Pro Bold"/>
                <a:ea typeface="Georgia Pro Bold"/>
                <a:cs typeface="Georgia Pro Bold"/>
                <a:sym typeface="Georgia Pro Bold"/>
              </a:rPr>
              <a:t>▶ Define Your Business Objective?</a:t>
            </a:r>
          </a:p>
        </p:txBody>
      </p:sp>
      <p:sp>
        <p:nvSpPr>
          <p:cNvPr id="3" name="TextBox 3"/>
          <p:cNvSpPr txBox="1"/>
          <p:nvPr/>
        </p:nvSpPr>
        <p:spPr>
          <a:xfrm>
            <a:off x="1906430" y="2880069"/>
            <a:ext cx="14475141" cy="6719887"/>
          </a:xfrm>
          <a:prstGeom prst="rect">
            <a:avLst/>
          </a:prstGeom>
        </p:spPr>
        <p:txBody>
          <a:bodyPr lIns="0" tIns="0" rIns="0" bIns="0" rtlCol="0" anchor="t">
            <a:spAutoFit/>
          </a:bodyPr>
          <a:lstStyle/>
          <a:p>
            <a:pPr algn="ctr">
              <a:lnSpc>
                <a:spcPts val="4822"/>
              </a:lnSpc>
              <a:spcBef>
                <a:spcPct val="0"/>
              </a:spcBef>
            </a:pPr>
            <a:r>
              <a:rPr lang="en-US" sz="4384" b="1">
                <a:solidFill>
                  <a:srgbClr val="000000"/>
                </a:solidFill>
                <a:latin typeface="Georgia Pro Bold"/>
                <a:ea typeface="Georgia Pro Bold"/>
                <a:cs typeface="Georgia Pro Bold"/>
                <a:sym typeface="Georgia Pro Bold"/>
              </a:rPr>
              <a:t>The business objective of the Seoul Bike dataset project is to accurately forecast hourly rental demand so that bike availability matches user needs across different times and weather conditions.</a:t>
            </a:r>
          </a:p>
          <a:p>
            <a:pPr algn="ctr">
              <a:lnSpc>
                <a:spcPts val="4822"/>
              </a:lnSpc>
              <a:spcBef>
                <a:spcPct val="0"/>
              </a:spcBef>
            </a:pPr>
            <a:r>
              <a:rPr lang="en-US" sz="4384" b="1">
                <a:solidFill>
                  <a:srgbClr val="000000"/>
                </a:solidFill>
                <a:latin typeface="Georgia Pro Bold"/>
                <a:ea typeface="Georgia Pro Bold"/>
                <a:cs typeface="Georgia Pro Bold"/>
                <a:sym typeface="Georgia Pro Bold"/>
              </a:rPr>
              <a:t>By reduce shortages during peak hours, and avoid excess supply during low-demand periods. Ultimately, this supports efficient urban mobility planning, enhances customer satisfaction, and promotes sustainable transportation solutions in Seoul.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04900"/>
            <a:ext cx="10237589" cy="1181801"/>
          </a:xfrm>
          <a:prstGeom prst="rect">
            <a:avLst/>
          </a:prstGeom>
        </p:spPr>
        <p:txBody>
          <a:bodyPr lIns="0" tIns="0" rIns="0" bIns="0" rtlCol="0" anchor="t">
            <a:spAutoFit/>
          </a:bodyPr>
          <a:lstStyle/>
          <a:p>
            <a:pPr algn="ctr">
              <a:lnSpc>
                <a:spcPts val="9135"/>
              </a:lnSpc>
              <a:spcBef>
                <a:spcPct val="0"/>
              </a:spcBef>
            </a:pPr>
            <a:r>
              <a:rPr lang="en-US" sz="8305" b="1">
                <a:solidFill>
                  <a:srgbClr val="FFFFFF"/>
                </a:solidFill>
                <a:latin typeface="Georgia Pro Bold"/>
                <a:ea typeface="Georgia Pro Bold"/>
                <a:cs typeface="Georgia Pro Bold"/>
                <a:sym typeface="Georgia Pro Bold"/>
              </a:rPr>
              <a:t>▶ Know Your Data</a:t>
            </a:r>
          </a:p>
        </p:txBody>
      </p:sp>
      <p:sp>
        <p:nvSpPr>
          <p:cNvPr id="3" name="TextBox 3"/>
          <p:cNvSpPr txBox="1"/>
          <p:nvPr/>
        </p:nvSpPr>
        <p:spPr>
          <a:xfrm>
            <a:off x="4268926" y="3114641"/>
            <a:ext cx="9750147" cy="1826382"/>
          </a:xfrm>
          <a:prstGeom prst="rect">
            <a:avLst/>
          </a:prstGeom>
        </p:spPr>
        <p:txBody>
          <a:bodyPr lIns="0" tIns="0" rIns="0" bIns="0" rtlCol="0" anchor="t">
            <a:spAutoFit/>
          </a:bodyPr>
          <a:lstStyle/>
          <a:p>
            <a:pPr marL="930436" lvl="1" indent="-465218" algn="l">
              <a:lnSpc>
                <a:spcPts val="4740"/>
              </a:lnSpc>
              <a:buFont typeface="Arial"/>
              <a:buChar char="•"/>
            </a:pPr>
            <a:r>
              <a:rPr lang="en-US" sz="4309" b="1">
                <a:solidFill>
                  <a:srgbClr val="000000"/>
                </a:solidFill>
                <a:latin typeface="Georgia Pro Bold"/>
                <a:ea typeface="Georgia Pro Bold"/>
                <a:cs typeface="Georgia Pro Bold"/>
                <a:sym typeface="Georgia Pro Bold"/>
              </a:rPr>
              <a:t>   Total Records: 8760</a:t>
            </a:r>
          </a:p>
          <a:p>
            <a:pPr marL="930436" lvl="1" indent="-465218" algn="l">
              <a:lnSpc>
                <a:spcPts val="4740"/>
              </a:lnSpc>
              <a:buFont typeface="Arial"/>
              <a:buChar char="•"/>
            </a:pPr>
            <a:r>
              <a:rPr lang="en-US" sz="4309" b="1">
                <a:solidFill>
                  <a:srgbClr val="000000"/>
                </a:solidFill>
                <a:latin typeface="Georgia Pro Bold"/>
                <a:ea typeface="Georgia Pro Bold"/>
                <a:cs typeface="Georgia Pro Bold"/>
                <a:sym typeface="Georgia Pro Bold"/>
              </a:rPr>
              <a:t>    Columns: 14</a:t>
            </a:r>
          </a:p>
          <a:p>
            <a:pPr marL="930436" lvl="1" indent="-465218" algn="l">
              <a:lnSpc>
                <a:spcPts val="4740"/>
              </a:lnSpc>
              <a:buFont typeface="Arial"/>
              <a:buChar char="•"/>
            </a:pPr>
            <a:r>
              <a:rPr lang="en-US" sz="4309" b="1">
                <a:solidFill>
                  <a:srgbClr val="000000"/>
                </a:solidFill>
                <a:latin typeface="Georgia Pro Bold"/>
                <a:ea typeface="Georgia Pro Bold"/>
                <a:cs typeface="Georgia Pro Bold"/>
                <a:sym typeface="Georgia Pro Bold"/>
              </a:rPr>
              <a:t>    Numerical &amp; Categorical data</a:t>
            </a:r>
          </a:p>
        </p:txBody>
      </p:sp>
      <p:sp>
        <p:nvSpPr>
          <p:cNvPr id="4" name="TextBox 4"/>
          <p:cNvSpPr txBox="1"/>
          <p:nvPr/>
        </p:nvSpPr>
        <p:spPr>
          <a:xfrm>
            <a:off x="1028700" y="5816588"/>
            <a:ext cx="10366145" cy="1181853"/>
          </a:xfrm>
          <a:prstGeom prst="rect">
            <a:avLst/>
          </a:prstGeom>
        </p:spPr>
        <p:txBody>
          <a:bodyPr lIns="0" tIns="0" rIns="0" bIns="0" rtlCol="0" anchor="t">
            <a:spAutoFit/>
          </a:bodyPr>
          <a:lstStyle/>
          <a:p>
            <a:pPr algn="ctr">
              <a:lnSpc>
                <a:spcPts val="9140"/>
              </a:lnSpc>
              <a:spcBef>
                <a:spcPct val="0"/>
              </a:spcBef>
            </a:pPr>
            <a:r>
              <a:rPr lang="en-US" sz="8309" b="1">
                <a:solidFill>
                  <a:srgbClr val="FFFFFF"/>
                </a:solidFill>
                <a:latin typeface="Georgia Pro Bold"/>
                <a:ea typeface="Georgia Pro Bold"/>
                <a:cs typeface="Georgia Pro Bold"/>
                <a:sym typeface="Georgia Pro Bold"/>
              </a:rPr>
              <a:t>▶Import Libraries</a:t>
            </a:r>
          </a:p>
        </p:txBody>
      </p:sp>
      <p:sp>
        <p:nvSpPr>
          <p:cNvPr id="5" name="TextBox 5"/>
          <p:cNvSpPr txBox="1"/>
          <p:nvPr/>
        </p:nvSpPr>
        <p:spPr>
          <a:xfrm>
            <a:off x="4268926" y="7371452"/>
            <a:ext cx="10008037" cy="2426457"/>
          </a:xfrm>
          <a:prstGeom prst="rect">
            <a:avLst/>
          </a:prstGeom>
        </p:spPr>
        <p:txBody>
          <a:bodyPr lIns="0" tIns="0" rIns="0" bIns="0" rtlCol="0" anchor="t">
            <a:spAutoFit/>
          </a:bodyPr>
          <a:lstStyle/>
          <a:p>
            <a:pPr marL="930436" lvl="1" indent="-465218" algn="l">
              <a:lnSpc>
                <a:spcPts val="4740"/>
              </a:lnSpc>
              <a:buFont typeface="Arial"/>
              <a:buChar char="•"/>
            </a:pPr>
            <a:r>
              <a:rPr lang="en-US" sz="4309" b="1">
                <a:solidFill>
                  <a:srgbClr val="000000"/>
                </a:solidFill>
                <a:latin typeface="Georgia Pro Bold"/>
                <a:ea typeface="Georgia Pro Bold"/>
                <a:cs typeface="Georgia Pro Bold"/>
                <a:sym typeface="Georgia Pro Bold"/>
              </a:rPr>
              <a:t>   import numpy as np</a:t>
            </a:r>
          </a:p>
          <a:p>
            <a:pPr marL="930436" lvl="1" indent="-465218" algn="l">
              <a:lnSpc>
                <a:spcPts val="4740"/>
              </a:lnSpc>
              <a:buFont typeface="Arial"/>
              <a:buChar char="•"/>
            </a:pPr>
            <a:r>
              <a:rPr lang="en-US" sz="4309" b="1">
                <a:solidFill>
                  <a:srgbClr val="000000"/>
                </a:solidFill>
                <a:latin typeface="Georgia Pro Bold"/>
                <a:ea typeface="Georgia Pro Bold"/>
                <a:cs typeface="Georgia Pro Bold"/>
                <a:sym typeface="Georgia Pro Bold"/>
              </a:rPr>
              <a:t>   import pandas as pd</a:t>
            </a:r>
          </a:p>
          <a:p>
            <a:pPr marL="930436" lvl="1" indent="-465218" algn="l">
              <a:lnSpc>
                <a:spcPts val="4740"/>
              </a:lnSpc>
              <a:buFont typeface="Arial"/>
              <a:buChar char="•"/>
            </a:pPr>
            <a:r>
              <a:rPr lang="en-US" sz="4309" b="1">
                <a:solidFill>
                  <a:srgbClr val="000000"/>
                </a:solidFill>
                <a:latin typeface="Georgia Pro Bold"/>
                <a:ea typeface="Georgia Pro Bold"/>
                <a:cs typeface="Georgia Pro Bold"/>
                <a:sym typeface="Georgia Pro Bold"/>
              </a:rPr>
              <a:t>   import matplotlib.pyplot as plt</a:t>
            </a:r>
          </a:p>
          <a:p>
            <a:pPr marL="930436" lvl="1" indent="-465218" algn="l">
              <a:lnSpc>
                <a:spcPts val="4740"/>
              </a:lnSpc>
              <a:buFont typeface="Arial"/>
              <a:buChar char="•"/>
            </a:pPr>
            <a:r>
              <a:rPr lang="en-US" sz="4309" b="1">
                <a:solidFill>
                  <a:srgbClr val="000000"/>
                </a:solidFill>
                <a:latin typeface="Georgia Pro Bold"/>
                <a:ea typeface="Georgia Pro Bold"/>
                <a:cs typeface="Georgia Pro Bold"/>
                <a:sym typeface="Georgia Pro Bold"/>
              </a:rPr>
              <a:t>   import seaborn as sns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05240" y="1104900"/>
            <a:ext cx="11383427" cy="1181853"/>
          </a:xfrm>
          <a:prstGeom prst="rect">
            <a:avLst/>
          </a:prstGeom>
        </p:spPr>
        <p:txBody>
          <a:bodyPr lIns="0" tIns="0" rIns="0" bIns="0" rtlCol="0" anchor="t">
            <a:spAutoFit/>
          </a:bodyPr>
          <a:lstStyle/>
          <a:p>
            <a:pPr algn="l">
              <a:lnSpc>
                <a:spcPts val="9140"/>
              </a:lnSpc>
            </a:pPr>
            <a:r>
              <a:rPr lang="en-US" sz="8309" b="1">
                <a:solidFill>
                  <a:srgbClr val="FFFFFF"/>
                </a:solidFill>
                <a:latin typeface="Georgia Pro Bold"/>
                <a:ea typeface="Georgia Pro Bold"/>
                <a:cs typeface="Georgia Pro Bold"/>
                <a:sym typeface="Georgia Pro Bold"/>
              </a:rPr>
              <a:t>▶ Dataset Loading</a:t>
            </a:r>
          </a:p>
        </p:txBody>
      </p:sp>
      <p:sp>
        <p:nvSpPr>
          <p:cNvPr id="3" name="TextBox 3"/>
          <p:cNvSpPr txBox="1"/>
          <p:nvPr/>
        </p:nvSpPr>
        <p:spPr>
          <a:xfrm>
            <a:off x="625285" y="2851624"/>
            <a:ext cx="17037430" cy="6620036"/>
          </a:xfrm>
          <a:prstGeom prst="rect">
            <a:avLst/>
          </a:prstGeom>
        </p:spPr>
        <p:txBody>
          <a:bodyPr lIns="0" tIns="0" rIns="0" bIns="0" rtlCol="0" anchor="t">
            <a:spAutoFit/>
          </a:bodyPr>
          <a:lstStyle/>
          <a:p>
            <a:pPr marL="1136210" lvl="1" indent="-568105" algn="l">
              <a:lnSpc>
                <a:spcPts val="5788"/>
              </a:lnSpc>
              <a:buFont typeface="Arial"/>
              <a:buChar char="•"/>
            </a:pPr>
            <a:r>
              <a:rPr lang="en-US" sz="5262" b="1">
                <a:solidFill>
                  <a:srgbClr val="000000"/>
                </a:solidFill>
                <a:latin typeface="Georgia Pro Bold"/>
                <a:ea typeface="Georgia Pro Bold"/>
                <a:cs typeface="Georgia Pro Bold"/>
                <a:sym typeface="Georgia Pro Bold"/>
              </a:rPr>
              <a:t>import pandas as pd</a:t>
            </a:r>
          </a:p>
          <a:p>
            <a:pPr algn="l">
              <a:lnSpc>
                <a:spcPts val="5788"/>
              </a:lnSpc>
            </a:pPr>
            <a:endParaRPr lang="en-US" sz="5262" b="1">
              <a:solidFill>
                <a:srgbClr val="000000"/>
              </a:solidFill>
              <a:latin typeface="Georgia Pro Bold"/>
              <a:ea typeface="Georgia Pro Bold"/>
              <a:cs typeface="Georgia Pro Bold"/>
              <a:sym typeface="Georgia Pro Bold"/>
            </a:endParaRPr>
          </a:p>
          <a:p>
            <a:pPr marL="1136210" lvl="1" indent="-568105" algn="l">
              <a:lnSpc>
                <a:spcPts val="5788"/>
              </a:lnSpc>
              <a:buFont typeface="Arial"/>
              <a:buChar char="•"/>
            </a:pPr>
            <a:r>
              <a:rPr lang="en-US" sz="5262" b="1">
                <a:solidFill>
                  <a:srgbClr val="000000"/>
                </a:solidFill>
                <a:latin typeface="Georgia Pro Bold"/>
                <a:ea typeface="Georgia Pro Bold"/>
                <a:cs typeface="Georgia Pro Bold"/>
                <a:sym typeface="Georgia Pro Bold"/>
              </a:rPr>
              <a:t>Load the patient master CSV file into a Pandas DataFrame</a:t>
            </a:r>
          </a:p>
          <a:p>
            <a:pPr algn="l">
              <a:lnSpc>
                <a:spcPts val="5788"/>
              </a:lnSpc>
            </a:pPr>
            <a:endParaRPr lang="en-US" sz="5262" b="1">
              <a:solidFill>
                <a:srgbClr val="000000"/>
              </a:solidFill>
              <a:latin typeface="Georgia Pro Bold"/>
              <a:ea typeface="Georgia Pro Bold"/>
              <a:cs typeface="Georgia Pro Bold"/>
              <a:sym typeface="Georgia Pro Bold"/>
            </a:endParaRPr>
          </a:p>
          <a:p>
            <a:pPr marL="1136210" lvl="1" indent="-568105" algn="l">
              <a:lnSpc>
                <a:spcPts val="5788"/>
              </a:lnSpc>
              <a:buFont typeface="Arial"/>
              <a:buChar char="•"/>
            </a:pPr>
            <a:r>
              <a:rPr lang="en-US" sz="5262" b="1">
                <a:solidFill>
                  <a:srgbClr val="000000"/>
                </a:solidFill>
                <a:latin typeface="Georgia Pro Bold"/>
                <a:ea typeface="Georgia Pro Bold"/>
                <a:cs typeface="Georgia Pro Bold"/>
                <a:sym typeface="Georgia Pro Bold"/>
              </a:rPr>
              <a:t>df = pd.read_csv('/content/drive/MyDrive/Data_Csv/Pandas Project/SeoulBikeData.csv', encoding='latin1')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478314"/>
            <a:ext cx="7839293" cy="8568437"/>
          </a:xfrm>
          <a:prstGeom prst="rect">
            <a:avLst/>
          </a:prstGeom>
        </p:spPr>
        <p:txBody>
          <a:bodyPr lIns="0" tIns="0" rIns="0" bIns="0" rtlCol="0" anchor="t">
            <a:spAutoFit/>
          </a:bodyPr>
          <a:lstStyle/>
          <a:p>
            <a:pPr algn="l">
              <a:lnSpc>
                <a:spcPts val="2948"/>
              </a:lnSpc>
              <a:spcBef>
                <a:spcPct val="0"/>
              </a:spcBef>
            </a:pPr>
            <a:r>
              <a:rPr lang="en-US" sz="2680" b="1">
                <a:solidFill>
                  <a:srgbClr val="000000"/>
                </a:solidFill>
                <a:latin typeface="Georgia Pro Bold"/>
                <a:ea typeface="Georgia Pro Bold"/>
                <a:cs typeface="Georgia Pro Bold"/>
                <a:sym typeface="Georgia Pro Bold"/>
              </a:rPr>
              <a:t>1.Rented Bike Count = [254, 204, 173, 107, 78, 100, 181, 460, 930, 4...</a:t>
            </a:r>
          </a:p>
          <a:p>
            <a:pPr algn="l">
              <a:lnSpc>
                <a:spcPts val="2948"/>
              </a:lnSpc>
              <a:spcBef>
                <a:spcPct val="0"/>
              </a:spcBef>
            </a:pPr>
            <a:r>
              <a:rPr lang="en-US" sz="2680" b="1">
                <a:solidFill>
                  <a:srgbClr val="000000"/>
                </a:solidFill>
                <a:latin typeface="Georgia Pro Bold"/>
                <a:ea typeface="Georgia Pro Bold"/>
                <a:cs typeface="Georgia Pro Bold"/>
                <a:sym typeface="Georgia Pro Bold"/>
              </a:rPr>
              <a:t> </a:t>
            </a:r>
          </a:p>
          <a:p>
            <a:pPr algn="l">
              <a:lnSpc>
                <a:spcPts val="2948"/>
              </a:lnSpc>
              <a:spcBef>
                <a:spcPct val="0"/>
              </a:spcBef>
            </a:pPr>
            <a:r>
              <a:rPr lang="en-US" sz="2680" b="1">
                <a:solidFill>
                  <a:srgbClr val="000000"/>
                </a:solidFill>
                <a:latin typeface="Georgia Pro Bold"/>
                <a:ea typeface="Georgia Pro Bold"/>
                <a:cs typeface="Georgia Pro Bold"/>
                <a:sym typeface="Georgia Pro Bold"/>
              </a:rPr>
              <a:t>2.Hour = [0, 1, 2, 3, 4, 5, 6, 7, 8, 9, 10, 11, 12, 13,...</a:t>
            </a:r>
          </a:p>
          <a:p>
            <a:pPr algn="l">
              <a:lnSpc>
                <a:spcPts val="2948"/>
              </a:lnSpc>
              <a:spcBef>
                <a:spcPct val="0"/>
              </a:spcBef>
            </a:pPr>
            <a:endParaRPr lang="en-US" sz="2680" b="1">
              <a:solidFill>
                <a:srgbClr val="000000"/>
              </a:solidFill>
              <a:latin typeface="Georgia Pro Bold"/>
              <a:ea typeface="Georgia Pro Bold"/>
              <a:cs typeface="Georgia Pro Bold"/>
              <a:sym typeface="Georgia Pro Bold"/>
            </a:endParaRPr>
          </a:p>
          <a:p>
            <a:pPr algn="l">
              <a:lnSpc>
                <a:spcPts val="2948"/>
              </a:lnSpc>
              <a:spcBef>
                <a:spcPct val="0"/>
              </a:spcBef>
            </a:pPr>
            <a:r>
              <a:rPr lang="en-US" sz="2680" b="1">
                <a:solidFill>
                  <a:srgbClr val="000000"/>
                </a:solidFill>
                <a:latin typeface="Georgia Pro Bold"/>
                <a:ea typeface="Georgia Pro Bold"/>
                <a:cs typeface="Georgia Pro Bold"/>
                <a:sym typeface="Georgia Pro Bold"/>
              </a:rPr>
              <a:t>3. Temperature(°C) = [-5.2, -5.5, -6.0, -6.2, -6.4, -6.6, -7.4, -7....</a:t>
            </a:r>
          </a:p>
          <a:p>
            <a:pPr algn="l">
              <a:lnSpc>
                <a:spcPts val="2948"/>
              </a:lnSpc>
              <a:spcBef>
                <a:spcPct val="0"/>
              </a:spcBef>
            </a:pPr>
            <a:r>
              <a:rPr lang="en-US" sz="2680" b="1">
                <a:solidFill>
                  <a:srgbClr val="000000"/>
                </a:solidFill>
                <a:latin typeface="Georgia Pro Bold"/>
                <a:ea typeface="Georgia Pro Bold"/>
                <a:cs typeface="Georgia Pro Bold"/>
                <a:sym typeface="Georgia Pro Bold"/>
              </a:rPr>
              <a:t> </a:t>
            </a:r>
          </a:p>
          <a:p>
            <a:pPr algn="l">
              <a:lnSpc>
                <a:spcPts val="2948"/>
              </a:lnSpc>
              <a:spcBef>
                <a:spcPct val="0"/>
              </a:spcBef>
            </a:pPr>
            <a:r>
              <a:rPr lang="en-US" sz="2680" b="1">
                <a:solidFill>
                  <a:srgbClr val="000000"/>
                </a:solidFill>
                <a:latin typeface="Georgia Pro Bold"/>
                <a:ea typeface="Georgia Pro Bold"/>
                <a:cs typeface="Georgia Pro Bold"/>
                <a:sym typeface="Georgia Pro Bold"/>
              </a:rPr>
              <a:t>4.Humidity(%) = [37, 38, 39, 40, 36, 35, 27, 24, 21, 23, 25, 2...</a:t>
            </a:r>
          </a:p>
          <a:p>
            <a:pPr algn="l">
              <a:lnSpc>
                <a:spcPts val="2948"/>
              </a:lnSpc>
              <a:spcBef>
                <a:spcPct val="0"/>
              </a:spcBef>
            </a:pPr>
            <a:endParaRPr lang="en-US" sz="2680" b="1">
              <a:solidFill>
                <a:srgbClr val="000000"/>
              </a:solidFill>
              <a:latin typeface="Georgia Pro Bold"/>
              <a:ea typeface="Georgia Pro Bold"/>
              <a:cs typeface="Georgia Pro Bold"/>
              <a:sym typeface="Georgia Pro Bold"/>
            </a:endParaRPr>
          </a:p>
          <a:p>
            <a:pPr algn="l">
              <a:lnSpc>
                <a:spcPts val="2948"/>
              </a:lnSpc>
              <a:spcBef>
                <a:spcPct val="0"/>
              </a:spcBef>
            </a:pPr>
            <a:r>
              <a:rPr lang="en-US" sz="2680" b="1">
                <a:solidFill>
                  <a:srgbClr val="000000"/>
                </a:solidFill>
                <a:latin typeface="Georgia Pro Bold"/>
                <a:ea typeface="Georgia Pro Bold"/>
                <a:cs typeface="Georgia Pro Bold"/>
                <a:sym typeface="Georgia Pro Bold"/>
              </a:rPr>
              <a:t>5. Wind speed (m/s) = [2.2, 0.8, 1.0, 0.9, 2.3, 1.5, 1.3, 1.1, 0.5,</a:t>
            </a:r>
          </a:p>
          <a:p>
            <a:pPr algn="l">
              <a:lnSpc>
                <a:spcPts val="2948"/>
              </a:lnSpc>
              <a:spcBef>
                <a:spcPct val="0"/>
              </a:spcBef>
            </a:pPr>
            <a:endParaRPr lang="en-US" sz="2680" b="1">
              <a:solidFill>
                <a:srgbClr val="000000"/>
              </a:solidFill>
              <a:latin typeface="Georgia Pro Bold"/>
              <a:ea typeface="Georgia Pro Bold"/>
              <a:cs typeface="Georgia Pro Bold"/>
              <a:sym typeface="Georgia Pro Bold"/>
            </a:endParaRPr>
          </a:p>
          <a:p>
            <a:pPr algn="l">
              <a:lnSpc>
                <a:spcPts val="2948"/>
              </a:lnSpc>
              <a:spcBef>
                <a:spcPct val="0"/>
              </a:spcBef>
            </a:pPr>
            <a:r>
              <a:rPr lang="en-US" sz="2680" b="1">
                <a:solidFill>
                  <a:srgbClr val="000000"/>
                </a:solidFill>
                <a:latin typeface="Georgia Pro Bold"/>
                <a:ea typeface="Georgia Pro Bold"/>
                <a:cs typeface="Georgia Pro Bold"/>
                <a:sym typeface="Georgia Pro Bold"/>
              </a:rPr>
              <a:t>6.Visibility (10m) = [2000, 1928, 1996, 1936, 793, 1913, 1687, 1380... </a:t>
            </a:r>
          </a:p>
          <a:p>
            <a:pPr algn="l">
              <a:lnSpc>
                <a:spcPts val="2948"/>
              </a:lnSpc>
              <a:spcBef>
                <a:spcPct val="0"/>
              </a:spcBef>
            </a:pPr>
            <a:endParaRPr lang="en-US" sz="2680" b="1">
              <a:solidFill>
                <a:srgbClr val="000000"/>
              </a:solidFill>
              <a:latin typeface="Georgia Pro Bold"/>
              <a:ea typeface="Georgia Pro Bold"/>
              <a:cs typeface="Georgia Pro Bold"/>
              <a:sym typeface="Georgia Pro Bold"/>
            </a:endParaRPr>
          </a:p>
          <a:p>
            <a:pPr algn="l">
              <a:lnSpc>
                <a:spcPts val="2948"/>
              </a:lnSpc>
              <a:spcBef>
                <a:spcPct val="0"/>
              </a:spcBef>
            </a:pPr>
            <a:r>
              <a:rPr lang="en-US" sz="2680" b="1">
                <a:solidFill>
                  <a:srgbClr val="000000"/>
                </a:solidFill>
                <a:latin typeface="Georgia Pro Bold"/>
                <a:ea typeface="Georgia Pro Bold"/>
                <a:cs typeface="Georgia Pro Bold"/>
                <a:sym typeface="Georgia Pro Bold"/>
              </a:rPr>
              <a:t>7.Dew point temperature(°C) = [-17.6, -17.7, -18.6, -18.7, -19.5, -19.3, -19...</a:t>
            </a:r>
          </a:p>
          <a:p>
            <a:pPr algn="l">
              <a:lnSpc>
                <a:spcPts val="2948"/>
              </a:lnSpc>
              <a:spcBef>
                <a:spcPct val="0"/>
              </a:spcBef>
            </a:pPr>
            <a:endParaRPr lang="en-US" sz="2680" b="1">
              <a:solidFill>
                <a:srgbClr val="000000"/>
              </a:solidFill>
              <a:latin typeface="Georgia Pro Bold"/>
              <a:ea typeface="Georgia Pro Bold"/>
              <a:cs typeface="Georgia Pro Bold"/>
              <a:sym typeface="Georgia Pro Bold"/>
            </a:endParaRPr>
          </a:p>
          <a:p>
            <a:pPr algn="l">
              <a:lnSpc>
                <a:spcPts val="2948"/>
              </a:lnSpc>
              <a:spcBef>
                <a:spcPct val="0"/>
              </a:spcBef>
            </a:pPr>
            <a:r>
              <a:rPr lang="en-US" sz="2680" b="1">
                <a:solidFill>
                  <a:srgbClr val="000000"/>
                </a:solidFill>
                <a:latin typeface="Georgia Pro Bold"/>
                <a:ea typeface="Georgia Pro Bold"/>
                <a:cs typeface="Georgia Pro Bold"/>
                <a:sym typeface="Georgia Pro Bold"/>
              </a:rPr>
              <a:t>8.Solar Radiation (MJ/m2) = [0.0, 0.01, 0.23, 0.65, 0.94, 1.11, 1.16, 1.01... </a:t>
            </a:r>
          </a:p>
        </p:txBody>
      </p:sp>
      <p:sp>
        <p:nvSpPr>
          <p:cNvPr id="3" name="TextBox 3"/>
          <p:cNvSpPr txBox="1"/>
          <p:nvPr/>
        </p:nvSpPr>
        <p:spPr>
          <a:xfrm>
            <a:off x="9144000" y="1487839"/>
            <a:ext cx="8391307" cy="8017124"/>
          </a:xfrm>
          <a:prstGeom prst="rect">
            <a:avLst/>
          </a:prstGeom>
        </p:spPr>
        <p:txBody>
          <a:bodyPr lIns="0" tIns="0" rIns="0" bIns="0" rtlCol="0" anchor="t">
            <a:spAutoFit/>
          </a:bodyPr>
          <a:lstStyle/>
          <a:p>
            <a:pPr algn="l">
              <a:lnSpc>
                <a:spcPts val="3046"/>
              </a:lnSpc>
              <a:spcBef>
                <a:spcPct val="0"/>
              </a:spcBef>
            </a:pPr>
            <a:r>
              <a:rPr lang="en-US" sz="2769" b="1">
                <a:solidFill>
                  <a:srgbClr val="000000"/>
                </a:solidFill>
                <a:latin typeface="Georgia Pro Bold"/>
                <a:ea typeface="Georgia Pro Bold"/>
                <a:cs typeface="Georgia Pro Bold"/>
                <a:sym typeface="Georgia Pro Bold"/>
              </a:rPr>
              <a:t>9.Rainfall(mm) = [0.0, 0.5, 1.0, 2.5, 0.1, 0.2, 0.3, 0.7, 1.6, ...</a:t>
            </a:r>
          </a:p>
          <a:p>
            <a:pPr algn="l">
              <a:lnSpc>
                <a:spcPts val="3046"/>
              </a:lnSpc>
              <a:spcBef>
                <a:spcPct val="0"/>
              </a:spcBef>
            </a:pPr>
            <a:endParaRPr lang="en-US" sz="2769" b="1">
              <a:solidFill>
                <a:srgbClr val="000000"/>
              </a:solidFill>
              <a:latin typeface="Georgia Pro Bold"/>
              <a:ea typeface="Georgia Pro Bold"/>
              <a:cs typeface="Georgia Pro Bold"/>
              <a:sym typeface="Georgia Pro Bold"/>
            </a:endParaRPr>
          </a:p>
          <a:p>
            <a:pPr algn="l">
              <a:lnSpc>
                <a:spcPts val="3046"/>
              </a:lnSpc>
              <a:spcBef>
                <a:spcPct val="0"/>
              </a:spcBef>
            </a:pPr>
            <a:r>
              <a:rPr lang="en-US" sz="2769" b="1">
                <a:solidFill>
                  <a:srgbClr val="000000"/>
                </a:solidFill>
                <a:latin typeface="Georgia Pro Bold"/>
                <a:ea typeface="Georgia Pro Bold"/>
                <a:cs typeface="Georgia Pro Bold"/>
                <a:sym typeface="Georgia Pro Bold"/>
              </a:rPr>
              <a:t>10.Snowfall (cm) = [0.0, 0.1, 0.3, 0.4, 0.2, 1.0, 0.9, 0.8, 0.7, ...</a:t>
            </a:r>
          </a:p>
          <a:p>
            <a:pPr algn="l">
              <a:lnSpc>
                <a:spcPts val="3046"/>
              </a:lnSpc>
              <a:spcBef>
                <a:spcPct val="0"/>
              </a:spcBef>
            </a:pPr>
            <a:r>
              <a:rPr lang="en-US" sz="2769" b="1">
                <a:solidFill>
                  <a:srgbClr val="000000"/>
                </a:solidFill>
                <a:latin typeface="Georgia Pro Bold"/>
                <a:ea typeface="Georgia Pro Bold"/>
                <a:cs typeface="Georgia Pro Bold"/>
                <a:sym typeface="Georgia Pro Bold"/>
              </a:rPr>
              <a:t> </a:t>
            </a:r>
          </a:p>
          <a:p>
            <a:pPr algn="l">
              <a:lnSpc>
                <a:spcPts val="3046"/>
              </a:lnSpc>
              <a:spcBef>
                <a:spcPct val="0"/>
              </a:spcBef>
            </a:pPr>
            <a:r>
              <a:rPr lang="en-US" sz="2769" b="1">
                <a:solidFill>
                  <a:srgbClr val="000000"/>
                </a:solidFill>
                <a:latin typeface="Georgia Pro Bold"/>
                <a:ea typeface="Georgia Pro Bold"/>
                <a:cs typeface="Georgia Pro Bold"/>
                <a:sym typeface="Georgia Pro Bold"/>
              </a:rPr>
              <a:t>11.Seasons = [Winter, Spring, Summer, Autumn]</a:t>
            </a:r>
          </a:p>
          <a:p>
            <a:pPr algn="l">
              <a:lnSpc>
                <a:spcPts val="3046"/>
              </a:lnSpc>
              <a:spcBef>
                <a:spcPct val="0"/>
              </a:spcBef>
            </a:pPr>
            <a:endParaRPr lang="en-US" sz="2769" b="1">
              <a:solidFill>
                <a:srgbClr val="000000"/>
              </a:solidFill>
              <a:latin typeface="Georgia Pro Bold"/>
              <a:ea typeface="Georgia Pro Bold"/>
              <a:cs typeface="Georgia Pro Bold"/>
              <a:sym typeface="Georgia Pro Bold"/>
            </a:endParaRPr>
          </a:p>
          <a:p>
            <a:pPr algn="l">
              <a:lnSpc>
                <a:spcPts val="3046"/>
              </a:lnSpc>
              <a:spcBef>
                <a:spcPct val="0"/>
              </a:spcBef>
            </a:pPr>
            <a:r>
              <a:rPr lang="en-US" sz="2769" b="1">
                <a:solidFill>
                  <a:srgbClr val="000000"/>
                </a:solidFill>
                <a:latin typeface="Georgia Pro Bold"/>
                <a:ea typeface="Georgia Pro Bold"/>
                <a:cs typeface="Georgia Pro Bold"/>
                <a:sym typeface="Georgia Pro Bold"/>
              </a:rPr>
              <a:t>12.Holiday = [No Holiday, Holiday]</a:t>
            </a:r>
          </a:p>
          <a:p>
            <a:pPr algn="l">
              <a:lnSpc>
                <a:spcPts val="3046"/>
              </a:lnSpc>
              <a:spcBef>
                <a:spcPct val="0"/>
              </a:spcBef>
            </a:pPr>
            <a:endParaRPr lang="en-US" sz="2769" b="1">
              <a:solidFill>
                <a:srgbClr val="000000"/>
              </a:solidFill>
              <a:latin typeface="Georgia Pro Bold"/>
              <a:ea typeface="Georgia Pro Bold"/>
              <a:cs typeface="Georgia Pro Bold"/>
              <a:sym typeface="Georgia Pro Bold"/>
            </a:endParaRPr>
          </a:p>
          <a:p>
            <a:pPr algn="l">
              <a:lnSpc>
                <a:spcPts val="3046"/>
              </a:lnSpc>
              <a:spcBef>
                <a:spcPct val="0"/>
              </a:spcBef>
            </a:pPr>
            <a:r>
              <a:rPr lang="en-US" sz="2769" b="1">
                <a:solidFill>
                  <a:srgbClr val="000000"/>
                </a:solidFill>
                <a:latin typeface="Georgia Pro Bold"/>
                <a:ea typeface="Georgia Pro Bold"/>
                <a:cs typeface="Georgia Pro Bold"/>
                <a:sym typeface="Georgia Pro Bold"/>
              </a:rPr>
              <a:t>13. Functioning Day = [Yes, No] </a:t>
            </a:r>
          </a:p>
          <a:p>
            <a:pPr algn="l">
              <a:lnSpc>
                <a:spcPts val="3046"/>
              </a:lnSpc>
              <a:spcBef>
                <a:spcPct val="0"/>
              </a:spcBef>
            </a:pPr>
            <a:endParaRPr lang="en-US" sz="2769" b="1">
              <a:solidFill>
                <a:srgbClr val="000000"/>
              </a:solidFill>
              <a:latin typeface="Georgia Pro Bold"/>
              <a:ea typeface="Georgia Pro Bold"/>
              <a:cs typeface="Georgia Pro Bold"/>
              <a:sym typeface="Georgia Pro Bold"/>
            </a:endParaRPr>
          </a:p>
          <a:p>
            <a:pPr algn="l">
              <a:lnSpc>
                <a:spcPts val="3046"/>
              </a:lnSpc>
              <a:spcBef>
                <a:spcPct val="0"/>
              </a:spcBef>
            </a:pPr>
            <a:r>
              <a:rPr lang="en-US" sz="2769" b="1">
                <a:solidFill>
                  <a:srgbClr val="000000"/>
                </a:solidFill>
                <a:latin typeface="Georgia Pro Bold"/>
                <a:ea typeface="Georgia Pro Bold"/>
                <a:cs typeface="Georgia Pro Bold"/>
                <a:sym typeface="Georgia Pro Bold"/>
              </a:rPr>
              <a:t>14.Day = [1, 2, 3, 4, 5, 6, 7, 8, 9, 10, 11, 12, 13, 14...</a:t>
            </a:r>
          </a:p>
          <a:p>
            <a:pPr algn="l">
              <a:lnSpc>
                <a:spcPts val="3046"/>
              </a:lnSpc>
              <a:spcBef>
                <a:spcPct val="0"/>
              </a:spcBef>
            </a:pPr>
            <a:endParaRPr lang="en-US" sz="2769" b="1">
              <a:solidFill>
                <a:srgbClr val="000000"/>
              </a:solidFill>
              <a:latin typeface="Georgia Pro Bold"/>
              <a:ea typeface="Georgia Pro Bold"/>
              <a:cs typeface="Georgia Pro Bold"/>
              <a:sym typeface="Georgia Pro Bold"/>
            </a:endParaRPr>
          </a:p>
          <a:p>
            <a:pPr algn="l">
              <a:lnSpc>
                <a:spcPts val="3046"/>
              </a:lnSpc>
              <a:spcBef>
                <a:spcPct val="0"/>
              </a:spcBef>
            </a:pPr>
            <a:r>
              <a:rPr lang="en-US" sz="2769" b="1">
                <a:solidFill>
                  <a:srgbClr val="000000"/>
                </a:solidFill>
                <a:latin typeface="Georgia Pro Bold"/>
                <a:ea typeface="Georgia Pro Bold"/>
                <a:cs typeface="Georgia Pro Bold"/>
                <a:sym typeface="Georgia Pro Bold"/>
              </a:rPr>
              <a:t>15.Month = [12, 1, 2, 3, 4, 5, 6, 7, 8, 9, 10, 11] </a:t>
            </a:r>
          </a:p>
          <a:p>
            <a:pPr algn="l">
              <a:lnSpc>
                <a:spcPts val="3046"/>
              </a:lnSpc>
              <a:spcBef>
                <a:spcPct val="0"/>
              </a:spcBef>
            </a:pPr>
            <a:r>
              <a:rPr lang="en-US" sz="2769" b="1">
                <a:solidFill>
                  <a:srgbClr val="000000"/>
                </a:solidFill>
                <a:latin typeface="Georgia Pro Bold"/>
                <a:ea typeface="Georgia Pro Bold"/>
                <a:cs typeface="Georgia Pro Bold"/>
                <a:sym typeface="Georgia Pro Bold"/>
              </a:rPr>
              <a:t>16.Year = [2017, 2018] </a:t>
            </a:r>
          </a:p>
          <a:p>
            <a:pPr algn="l">
              <a:lnSpc>
                <a:spcPts val="3046"/>
              </a:lnSpc>
              <a:spcBef>
                <a:spcPct val="0"/>
              </a:spcBef>
            </a:pPr>
            <a:endParaRPr lang="en-US" sz="2769" b="1">
              <a:solidFill>
                <a:srgbClr val="000000"/>
              </a:solidFill>
              <a:latin typeface="Georgia Pro Bold"/>
              <a:ea typeface="Georgia Pro Bold"/>
              <a:cs typeface="Georgia Pro Bold"/>
              <a:sym typeface="Georgia Pro Bold"/>
            </a:endParaRPr>
          </a:p>
          <a:p>
            <a:pPr algn="l">
              <a:lnSpc>
                <a:spcPts val="3046"/>
              </a:lnSpc>
              <a:spcBef>
                <a:spcPct val="0"/>
              </a:spcBef>
            </a:pPr>
            <a:r>
              <a:rPr lang="en-US" sz="2769" b="1">
                <a:solidFill>
                  <a:srgbClr val="000000"/>
                </a:solidFill>
                <a:latin typeface="Georgia Pro Bold"/>
                <a:ea typeface="Georgia Pro Bold"/>
                <a:cs typeface="Georgia Pro Bold"/>
                <a:sym typeface="Georgia Pro Bold"/>
              </a:rPr>
              <a:t>17.WeekDay = [Friday, Saturday, Sunday, Monday, Tuesday, We... </a:t>
            </a:r>
          </a:p>
        </p:txBody>
      </p:sp>
      <p:sp>
        <p:nvSpPr>
          <p:cNvPr id="4" name="TextBox 4"/>
          <p:cNvSpPr txBox="1"/>
          <p:nvPr/>
        </p:nvSpPr>
        <p:spPr>
          <a:xfrm>
            <a:off x="304800" y="57150"/>
            <a:ext cx="13072050" cy="1034484"/>
          </a:xfrm>
          <a:prstGeom prst="rect">
            <a:avLst/>
          </a:prstGeom>
        </p:spPr>
        <p:txBody>
          <a:bodyPr wrap="square" lIns="0" tIns="0" rIns="0" bIns="0" rtlCol="0" anchor="t">
            <a:spAutoFit/>
          </a:bodyPr>
          <a:lstStyle/>
          <a:p>
            <a:pPr algn="ctr">
              <a:lnSpc>
                <a:spcPts val="7925"/>
              </a:lnSpc>
              <a:spcBef>
                <a:spcPct val="0"/>
              </a:spcBef>
            </a:pPr>
            <a:r>
              <a:rPr lang="en-US" sz="7205" b="1" dirty="0">
                <a:solidFill>
                  <a:srgbClr val="FFFFFF"/>
                </a:solidFill>
                <a:latin typeface="Georgia Pro Bold"/>
                <a:ea typeface="Georgia Pro Bold"/>
                <a:cs typeface="Georgia Pro Bold"/>
                <a:sym typeface="Georgia Pro Bold"/>
              </a:rPr>
              <a:t>Unique Variable Dataset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095375"/>
            <a:ext cx="7051739" cy="1180584"/>
          </a:xfrm>
          <a:prstGeom prst="rect">
            <a:avLst/>
          </a:prstGeom>
        </p:spPr>
        <p:txBody>
          <a:bodyPr lIns="0" tIns="0" rIns="0" bIns="0" rtlCol="0" anchor="t">
            <a:spAutoFit/>
          </a:bodyPr>
          <a:lstStyle/>
          <a:p>
            <a:pPr algn="l">
              <a:lnSpc>
                <a:spcPts val="9030"/>
              </a:lnSpc>
              <a:spcBef>
                <a:spcPct val="0"/>
              </a:spcBef>
            </a:pPr>
            <a:r>
              <a:rPr lang="en-US" sz="8209" b="1">
                <a:solidFill>
                  <a:srgbClr val="FFFFFF"/>
                </a:solidFill>
                <a:latin typeface="Georgia Pro Bold"/>
                <a:ea typeface="Georgia Pro Bold"/>
                <a:cs typeface="Georgia Pro Bold"/>
                <a:sym typeface="Georgia Pro Bold"/>
              </a:rPr>
              <a:t>▶Features</a:t>
            </a:r>
          </a:p>
        </p:txBody>
      </p:sp>
      <p:sp>
        <p:nvSpPr>
          <p:cNvPr id="3" name="TextBox 3"/>
          <p:cNvSpPr txBox="1"/>
          <p:nvPr/>
        </p:nvSpPr>
        <p:spPr>
          <a:xfrm>
            <a:off x="3319187" y="3626898"/>
            <a:ext cx="9522503" cy="6283699"/>
          </a:xfrm>
          <a:prstGeom prst="rect">
            <a:avLst/>
          </a:prstGeom>
        </p:spPr>
        <p:txBody>
          <a:bodyPr lIns="0" tIns="0" rIns="0" bIns="0" rtlCol="0" anchor="t">
            <a:spAutoFit/>
          </a:bodyPr>
          <a:lstStyle/>
          <a:p>
            <a:pPr algn="l">
              <a:lnSpc>
                <a:spcPts val="5532"/>
              </a:lnSpc>
            </a:pPr>
            <a:r>
              <a:rPr lang="en-US" sz="5029" b="1">
                <a:solidFill>
                  <a:srgbClr val="000000"/>
                </a:solidFill>
                <a:latin typeface="Georgia Pro Bold"/>
                <a:ea typeface="Georgia Pro Bold"/>
                <a:cs typeface="Georgia Pro Bold"/>
                <a:sym typeface="Georgia Pro Bold"/>
              </a:rPr>
              <a:t>•Date, Hour, Bike Count</a:t>
            </a:r>
          </a:p>
          <a:p>
            <a:pPr algn="l">
              <a:lnSpc>
                <a:spcPts val="5532"/>
              </a:lnSpc>
            </a:pPr>
            <a:endParaRPr lang="en-US" sz="5029" b="1">
              <a:solidFill>
                <a:srgbClr val="000000"/>
              </a:solidFill>
              <a:latin typeface="Georgia Pro Bold"/>
              <a:ea typeface="Georgia Pro Bold"/>
              <a:cs typeface="Georgia Pro Bold"/>
              <a:sym typeface="Georgia Pro Bold"/>
            </a:endParaRPr>
          </a:p>
          <a:p>
            <a:pPr algn="l">
              <a:lnSpc>
                <a:spcPts val="6302"/>
              </a:lnSpc>
            </a:pPr>
            <a:r>
              <a:rPr lang="en-US" sz="5729" b="1">
                <a:solidFill>
                  <a:srgbClr val="000000"/>
                </a:solidFill>
                <a:latin typeface="Georgia Pro Bold"/>
                <a:ea typeface="Georgia Pro Bold"/>
                <a:cs typeface="Georgia Pro Bold"/>
                <a:sym typeface="Georgia Pro Bold"/>
              </a:rPr>
              <a:t>•Temperature, Humidity</a:t>
            </a:r>
          </a:p>
          <a:p>
            <a:pPr algn="l">
              <a:lnSpc>
                <a:spcPts val="5532"/>
              </a:lnSpc>
            </a:pPr>
            <a:endParaRPr lang="en-US" sz="5729" b="1">
              <a:solidFill>
                <a:srgbClr val="000000"/>
              </a:solidFill>
              <a:latin typeface="Georgia Pro Bold"/>
              <a:ea typeface="Georgia Pro Bold"/>
              <a:cs typeface="Georgia Pro Bold"/>
              <a:sym typeface="Georgia Pro Bold"/>
            </a:endParaRPr>
          </a:p>
          <a:p>
            <a:pPr algn="l">
              <a:lnSpc>
                <a:spcPts val="5532"/>
              </a:lnSpc>
            </a:pPr>
            <a:r>
              <a:rPr lang="en-US" sz="5029" b="1">
                <a:solidFill>
                  <a:srgbClr val="000000"/>
                </a:solidFill>
                <a:latin typeface="Georgia Pro Bold"/>
                <a:ea typeface="Georgia Pro Bold"/>
                <a:cs typeface="Georgia Pro Bold"/>
                <a:sym typeface="Georgia Pro Bold"/>
              </a:rPr>
              <a:t>•Wind, Visibility</a:t>
            </a:r>
          </a:p>
          <a:p>
            <a:pPr algn="l">
              <a:lnSpc>
                <a:spcPts val="5532"/>
              </a:lnSpc>
            </a:pPr>
            <a:endParaRPr lang="en-US" sz="5029" b="1">
              <a:solidFill>
                <a:srgbClr val="000000"/>
              </a:solidFill>
              <a:latin typeface="Georgia Pro Bold"/>
              <a:ea typeface="Georgia Pro Bold"/>
              <a:cs typeface="Georgia Pro Bold"/>
              <a:sym typeface="Georgia Pro Bold"/>
            </a:endParaRPr>
          </a:p>
          <a:p>
            <a:pPr algn="l">
              <a:lnSpc>
                <a:spcPts val="5532"/>
              </a:lnSpc>
            </a:pPr>
            <a:r>
              <a:rPr lang="en-US" sz="5029" b="1">
                <a:solidFill>
                  <a:srgbClr val="000000"/>
                </a:solidFill>
                <a:latin typeface="Georgia Pro Bold"/>
                <a:ea typeface="Georgia Pro Bold"/>
                <a:cs typeface="Georgia Pro Bold"/>
                <a:sym typeface="Georgia Pro Bold"/>
              </a:rPr>
              <a:t>•Rainfall, Snowfall</a:t>
            </a:r>
          </a:p>
          <a:p>
            <a:pPr algn="l">
              <a:lnSpc>
                <a:spcPts val="4762"/>
              </a:lnSpc>
            </a:pPr>
            <a:endParaRPr lang="en-US" sz="5029" b="1">
              <a:solidFill>
                <a:srgbClr val="000000"/>
              </a:solidFill>
              <a:latin typeface="Georgia Pro Bold"/>
              <a:ea typeface="Georgia Pro Bold"/>
              <a:cs typeface="Georgia Pro Bold"/>
              <a:sym typeface="Georgia Pro Bold"/>
            </a:endParaRPr>
          </a:p>
          <a:p>
            <a:pPr algn="l">
              <a:lnSpc>
                <a:spcPts val="5532"/>
              </a:lnSpc>
            </a:pPr>
            <a:r>
              <a:rPr lang="en-US" sz="5029" b="1">
                <a:solidFill>
                  <a:srgbClr val="000000"/>
                </a:solidFill>
                <a:latin typeface="Georgia Pro Bold"/>
                <a:ea typeface="Georgia Pro Bold"/>
                <a:cs typeface="Georgia Pro Bold"/>
                <a:sym typeface="Georgia Pro Bold"/>
              </a:rPr>
              <a:t>•Seasons, Holiday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04900"/>
            <a:ext cx="10360580" cy="1181853"/>
          </a:xfrm>
          <a:prstGeom prst="rect">
            <a:avLst/>
          </a:prstGeom>
        </p:spPr>
        <p:txBody>
          <a:bodyPr lIns="0" tIns="0" rIns="0" bIns="0" rtlCol="0" anchor="t">
            <a:spAutoFit/>
          </a:bodyPr>
          <a:lstStyle/>
          <a:p>
            <a:pPr algn="ctr">
              <a:lnSpc>
                <a:spcPts val="9140"/>
              </a:lnSpc>
              <a:spcBef>
                <a:spcPct val="0"/>
              </a:spcBef>
            </a:pPr>
            <a:r>
              <a:rPr lang="en-US" sz="8309" b="1">
                <a:solidFill>
                  <a:srgbClr val="FFFFFF"/>
                </a:solidFill>
                <a:latin typeface="Georgia Pro Bold"/>
                <a:ea typeface="Georgia Pro Bold"/>
                <a:cs typeface="Georgia Pro Bold"/>
                <a:sym typeface="Georgia Pro Bold"/>
              </a:rPr>
              <a:t>▶Data Exploration</a:t>
            </a:r>
          </a:p>
        </p:txBody>
      </p:sp>
      <p:sp>
        <p:nvSpPr>
          <p:cNvPr id="3" name="TextBox 3"/>
          <p:cNvSpPr txBox="1"/>
          <p:nvPr/>
        </p:nvSpPr>
        <p:spPr>
          <a:xfrm>
            <a:off x="3299658" y="4061901"/>
            <a:ext cx="11688684" cy="4035343"/>
          </a:xfrm>
          <a:prstGeom prst="rect">
            <a:avLst/>
          </a:prstGeom>
        </p:spPr>
        <p:txBody>
          <a:bodyPr lIns="0" tIns="0" rIns="0" bIns="0" rtlCol="0" anchor="t">
            <a:spAutoFit/>
          </a:bodyPr>
          <a:lstStyle/>
          <a:p>
            <a:pPr marL="1240033" lvl="1" indent="-620016" algn="l">
              <a:lnSpc>
                <a:spcPts val="6317"/>
              </a:lnSpc>
              <a:buFont typeface="Arial"/>
              <a:buChar char="•"/>
            </a:pPr>
            <a:r>
              <a:rPr lang="en-US" sz="5743" b="1">
                <a:solidFill>
                  <a:srgbClr val="000000"/>
                </a:solidFill>
                <a:latin typeface="Georgia Pro Bold"/>
                <a:ea typeface="Georgia Pro Bold"/>
                <a:cs typeface="Georgia Pro Bold"/>
                <a:sym typeface="Georgia Pro Bold"/>
              </a:rPr>
              <a:t>No missing values</a:t>
            </a:r>
          </a:p>
          <a:p>
            <a:pPr algn="l">
              <a:lnSpc>
                <a:spcPts val="6317"/>
              </a:lnSpc>
            </a:pPr>
            <a:endParaRPr lang="en-US" sz="5743" b="1">
              <a:solidFill>
                <a:srgbClr val="000000"/>
              </a:solidFill>
              <a:latin typeface="Georgia Pro Bold"/>
              <a:ea typeface="Georgia Pro Bold"/>
              <a:cs typeface="Georgia Pro Bold"/>
              <a:sym typeface="Georgia Pro Bold"/>
            </a:endParaRPr>
          </a:p>
          <a:p>
            <a:pPr marL="1240033" lvl="1" indent="-620016" algn="l">
              <a:lnSpc>
                <a:spcPts val="6317"/>
              </a:lnSpc>
              <a:buFont typeface="Arial"/>
              <a:buChar char="•"/>
            </a:pPr>
            <a:r>
              <a:rPr lang="en-US" sz="5743" b="1">
                <a:solidFill>
                  <a:srgbClr val="000000"/>
                </a:solidFill>
                <a:latin typeface="Georgia Pro Bold"/>
                <a:ea typeface="Georgia Pro Bold"/>
                <a:cs typeface="Georgia Pro Bold"/>
                <a:sym typeface="Georgia Pro Bold"/>
              </a:rPr>
              <a:t>No duplicates</a:t>
            </a:r>
          </a:p>
          <a:p>
            <a:pPr algn="l">
              <a:lnSpc>
                <a:spcPts val="6317"/>
              </a:lnSpc>
            </a:pPr>
            <a:endParaRPr lang="en-US" sz="5743" b="1">
              <a:solidFill>
                <a:srgbClr val="000000"/>
              </a:solidFill>
              <a:latin typeface="Georgia Pro Bold"/>
              <a:ea typeface="Georgia Pro Bold"/>
              <a:cs typeface="Georgia Pro Bold"/>
              <a:sym typeface="Georgia Pro Bold"/>
            </a:endParaRPr>
          </a:p>
          <a:p>
            <a:pPr marL="1240033" lvl="1" indent="-620016" algn="l">
              <a:lnSpc>
                <a:spcPts val="6317"/>
              </a:lnSpc>
              <a:buFont typeface="Arial"/>
              <a:buChar char="•"/>
            </a:pPr>
            <a:r>
              <a:rPr lang="en-US" sz="5743" b="1">
                <a:solidFill>
                  <a:srgbClr val="000000"/>
                </a:solidFill>
                <a:latin typeface="Georgia Pro Bold"/>
                <a:ea typeface="Georgia Pro Bold"/>
                <a:cs typeface="Georgia Pro Bold"/>
                <a:sym typeface="Georgia Pro Bold"/>
              </a:rPr>
              <a:t>Data is clean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04900"/>
            <a:ext cx="12799066" cy="1181853"/>
          </a:xfrm>
          <a:prstGeom prst="rect">
            <a:avLst/>
          </a:prstGeom>
        </p:spPr>
        <p:txBody>
          <a:bodyPr lIns="0" tIns="0" rIns="0" bIns="0" rtlCol="0" anchor="t">
            <a:spAutoFit/>
          </a:bodyPr>
          <a:lstStyle/>
          <a:p>
            <a:pPr algn="ctr">
              <a:lnSpc>
                <a:spcPts val="9140"/>
              </a:lnSpc>
              <a:spcBef>
                <a:spcPct val="0"/>
              </a:spcBef>
            </a:pPr>
            <a:r>
              <a:rPr lang="en-US" sz="8309" b="1">
                <a:solidFill>
                  <a:srgbClr val="FFFFFF"/>
                </a:solidFill>
                <a:latin typeface="Georgia Pro Bold"/>
                <a:ea typeface="Georgia Pro Bold"/>
                <a:cs typeface="Georgia Pro Bold"/>
                <a:sym typeface="Georgia Pro Bold"/>
              </a:rPr>
              <a:t>▶Data Transformation</a:t>
            </a:r>
          </a:p>
        </p:txBody>
      </p:sp>
      <p:sp>
        <p:nvSpPr>
          <p:cNvPr id="3" name="TextBox 3"/>
          <p:cNvSpPr txBox="1"/>
          <p:nvPr/>
        </p:nvSpPr>
        <p:spPr>
          <a:xfrm>
            <a:off x="3180457" y="3314700"/>
            <a:ext cx="11927086" cy="5435706"/>
          </a:xfrm>
          <a:prstGeom prst="rect">
            <a:avLst/>
          </a:prstGeom>
        </p:spPr>
        <p:txBody>
          <a:bodyPr lIns="0" tIns="0" rIns="0" bIns="0" rtlCol="0" anchor="t">
            <a:spAutoFit/>
          </a:bodyPr>
          <a:lstStyle/>
          <a:p>
            <a:pPr algn="l">
              <a:lnSpc>
                <a:spcPts val="6334"/>
              </a:lnSpc>
              <a:spcBef>
                <a:spcPct val="0"/>
              </a:spcBef>
            </a:pPr>
            <a:r>
              <a:rPr lang="en-US" sz="5758" b="1" dirty="0">
                <a:solidFill>
                  <a:srgbClr val="000000"/>
                </a:solidFill>
                <a:latin typeface="Georgia Pro Bold"/>
                <a:ea typeface="Georgia Pro Bold"/>
                <a:cs typeface="Georgia Pro Bold"/>
                <a:sym typeface="Georgia Pro Bold"/>
              </a:rPr>
              <a:t>•Converted Date</a:t>
            </a:r>
          </a:p>
          <a:p>
            <a:pPr algn="l">
              <a:lnSpc>
                <a:spcPts val="6334"/>
              </a:lnSpc>
              <a:spcBef>
                <a:spcPct val="0"/>
              </a:spcBef>
            </a:pPr>
            <a:endParaRPr lang="en-US" sz="5758" b="1" dirty="0">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dirty="0">
                <a:solidFill>
                  <a:srgbClr val="000000"/>
                </a:solidFill>
                <a:latin typeface="Georgia Pro Bold"/>
                <a:ea typeface="Georgia Pro Bold"/>
                <a:cs typeface="Georgia Pro Bold"/>
                <a:sym typeface="Georgia Pro Bold"/>
              </a:rPr>
              <a:t>•Extracted Month &amp; Day</a:t>
            </a:r>
          </a:p>
          <a:p>
            <a:pPr algn="l">
              <a:lnSpc>
                <a:spcPts val="6334"/>
              </a:lnSpc>
              <a:spcBef>
                <a:spcPct val="0"/>
              </a:spcBef>
            </a:pPr>
            <a:endParaRPr lang="en-US" sz="5758" b="1" dirty="0">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dirty="0">
                <a:solidFill>
                  <a:srgbClr val="000000"/>
                </a:solidFill>
                <a:latin typeface="Georgia Pro Bold"/>
                <a:ea typeface="Georgia Pro Bold"/>
                <a:cs typeface="Georgia Pro Bold"/>
                <a:sym typeface="Georgia Pro Bold"/>
              </a:rPr>
              <a:t>•Created Temperature Category</a:t>
            </a:r>
          </a:p>
          <a:p>
            <a:pPr algn="l">
              <a:lnSpc>
                <a:spcPts val="4794"/>
              </a:lnSpc>
              <a:spcBef>
                <a:spcPct val="0"/>
              </a:spcBef>
            </a:pPr>
            <a:endParaRPr lang="en-US" sz="5758" b="1" dirty="0">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dirty="0">
                <a:solidFill>
                  <a:srgbClr val="000000"/>
                </a:solidFill>
                <a:latin typeface="Georgia Pro Bold"/>
                <a:ea typeface="Georgia Pro Bold"/>
                <a:cs typeface="Georgia Pro Bold"/>
                <a:sym typeface="Georgia Pro Bold"/>
              </a:rPr>
              <a:t>•Created Peak Hour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04900"/>
            <a:ext cx="10450235" cy="1181853"/>
          </a:xfrm>
          <a:prstGeom prst="rect">
            <a:avLst/>
          </a:prstGeom>
        </p:spPr>
        <p:txBody>
          <a:bodyPr lIns="0" tIns="0" rIns="0" bIns="0" rtlCol="0" anchor="t">
            <a:spAutoFit/>
          </a:bodyPr>
          <a:lstStyle/>
          <a:p>
            <a:pPr algn="ctr">
              <a:lnSpc>
                <a:spcPts val="9140"/>
              </a:lnSpc>
              <a:spcBef>
                <a:spcPct val="0"/>
              </a:spcBef>
            </a:pPr>
            <a:r>
              <a:rPr lang="en-US" sz="8309" b="1">
                <a:solidFill>
                  <a:srgbClr val="FFFFFF"/>
                </a:solidFill>
                <a:latin typeface="Georgia Pro Bold"/>
                <a:ea typeface="Georgia Pro Bold"/>
                <a:cs typeface="Georgia Pro Bold"/>
                <a:sym typeface="Georgia Pro Bold"/>
              </a:rPr>
              <a:t>▶Filtering Insights</a:t>
            </a:r>
          </a:p>
        </p:txBody>
      </p:sp>
      <p:sp>
        <p:nvSpPr>
          <p:cNvPr id="3" name="TextBox 3"/>
          <p:cNvSpPr txBox="1"/>
          <p:nvPr/>
        </p:nvSpPr>
        <p:spPr>
          <a:xfrm>
            <a:off x="3638906" y="4092387"/>
            <a:ext cx="11010187" cy="3977640"/>
          </a:xfrm>
          <a:prstGeom prst="rect">
            <a:avLst/>
          </a:prstGeom>
        </p:spPr>
        <p:txBody>
          <a:bodyPr lIns="0" tIns="0" rIns="0" bIns="0" rtlCol="0" anchor="t">
            <a:spAutoFit/>
          </a:bodyPr>
          <a:lstStyle/>
          <a:p>
            <a:pPr algn="l">
              <a:lnSpc>
                <a:spcPts val="6269"/>
              </a:lnSpc>
            </a:pPr>
            <a:r>
              <a:rPr lang="en-US" sz="5699" b="1">
                <a:solidFill>
                  <a:srgbClr val="000000"/>
                </a:solidFill>
                <a:latin typeface="Georgia Pro Bold"/>
                <a:ea typeface="Georgia Pro Bold"/>
                <a:cs typeface="Georgia Pro Bold"/>
                <a:sym typeface="Georgia Pro Bold"/>
              </a:rPr>
              <a:t>•High rentals in warm temp</a:t>
            </a:r>
          </a:p>
          <a:p>
            <a:pPr algn="l">
              <a:lnSpc>
                <a:spcPts val="6269"/>
              </a:lnSpc>
            </a:pPr>
            <a:endParaRPr lang="en-US" sz="5699" b="1">
              <a:solidFill>
                <a:srgbClr val="000000"/>
              </a:solidFill>
              <a:latin typeface="Georgia Pro Bold"/>
              <a:ea typeface="Georgia Pro Bold"/>
              <a:cs typeface="Georgia Pro Bold"/>
              <a:sym typeface="Georgia Pro Bold"/>
            </a:endParaRPr>
          </a:p>
          <a:p>
            <a:pPr algn="l">
              <a:lnSpc>
                <a:spcPts val="6269"/>
              </a:lnSpc>
            </a:pPr>
            <a:r>
              <a:rPr lang="en-US" sz="5699" b="1">
                <a:solidFill>
                  <a:srgbClr val="000000"/>
                </a:solidFill>
                <a:latin typeface="Georgia Pro Bold"/>
                <a:ea typeface="Georgia Pro Bold"/>
                <a:cs typeface="Georgia Pro Bold"/>
                <a:sym typeface="Georgia Pro Bold"/>
              </a:rPr>
              <a:t>•Low rentals in rain &amp; snow</a:t>
            </a:r>
          </a:p>
          <a:p>
            <a:pPr algn="l">
              <a:lnSpc>
                <a:spcPts val="6269"/>
              </a:lnSpc>
            </a:pPr>
            <a:endParaRPr lang="en-US" sz="5699" b="1">
              <a:solidFill>
                <a:srgbClr val="000000"/>
              </a:solidFill>
              <a:latin typeface="Georgia Pro Bold"/>
              <a:ea typeface="Georgia Pro Bold"/>
              <a:cs typeface="Georgia Pro Bold"/>
              <a:sym typeface="Georgia Pro Bold"/>
            </a:endParaRPr>
          </a:p>
          <a:p>
            <a:pPr algn="l">
              <a:lnSpc>
                <a:spcPts val="6269"/>
              </a:lnSpc>
            </a:pPr>
            <a:r>
              <a:rPr lang="en-US" sz="5699" b="1">
                <a:solidFill>
                  <a:srgbClr val="000000"/>
                </a:solidFill>
                <a:latin typeface="Georgia Pro Bold"/>
                <a:ea typeface="Georgia Pro Bold"/>
                <a:cs typeface="Georgia Pro Bold"/>
                <a:sym typeface="Georgia Pro Bold"/>
              </a:rPr>
              <a:t>•Winter has low demand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559072" y="2785122"/>
            <a:ext cx="8504676" cy="6030937"/>
          </a:xfrm>
          <a:custGeom>
            <a:avLst/>
            <a:gdLst/>
            <a:ahLst/>
            <a:cxnLst/>
            <a:rect l="l" t="t" r="r" b="b"/>
            <a:pathLst>
              <a:path w="8504676" h="6030937">
                <a:moveTo>
                  <a:pt x="0" y="0"/>
                </a:moveTo>
                <a:lnTo>
                  <a:pt x="8504676" y="0"/>
                </a:lnTo>
                <a:lnTo>
                  <a:pt x="8504676" y="6030937"/>
                </a:lnTo>
                <a:lnTo>
                  <a:pt x="0" y="6030937"/>
                </a:lnTo>
                <a:lnTo>
                  <a:pt x="0" y="0"/>
                </a:lnTo>
                <a:close/>
              </a:path>
            </a:pathLst>
          </a:custGeom>
          <a:blipFill>
            <a:blip r:embed="rId2"/>
            <a:stretch>
              <a:fillRect/>
            </a:stretch>
          </a:blipFill>
        </p:spPr>
      </p:sp>
      <p:sp>
        <p:nvSpPr>
          <p:cNvPr id="3" name="TextBox 3"/>
          <p:cNvSpPr txBox="1"/>
          <p:nvPr/>
        </p:nvSpPr>
        <p:spPr>
          <a:xfrm>
            <a:off x="1028700" y="3801875"/>
            <a:ext cx="6849351" cy="40355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•Summer highest rentals</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•Winter lowest demand</a:t>
            </a:r>
          </a:p>
        </p:txBody>
      </p:sp>
      <p:sp>
        <p:nvSpPr>
          <p:cNvPr id="4" name="TextBox 4"/>
          <p:cNvSpPr txBox="1"/>
          <p:nvPr/>
        </p:nvSpPr>
        <p:spPr>
          <a:xfrm>
            <a:off x="1028700" y="1104900"/>
            <a:ext cx="10807065"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▶Seasonal Analysis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826873" y="2494094"/>
            <a:ext cx="9935040" cy="6197327"/>
          </a:xfrm>
          <a:custGeom>
            <a:avLst/>
            <a:gdLst/>
            <a:ahLst/>
            <a:cxnLst/>
            <a:rect l="l" t="t" r="r" b="b"/>
            <a:pathLst>
              <a:path w="9935040" h="6197327">
                <a:moveTo>
                  <a:pt x="0" y="0"/>
                </a:moveTo>
                <a:lnTo>
                  <a:pt x="9935040" y="0"/>
                </a:lnTo>
                <a:lnTo>
                  <a:pt x="9935040" y="6197327"/>
                </a:lnTo>
                <a:lnTo>
                  <a:pt x="0" y="6197327"/>
                </a:lnTo>
                <a:lnTo>
                  <a:pt x="0" y="0"/>
                </a:lnTo>
                <a:close/>
              </a:path>
            </a:pathLst>
          </a:custGeom>
          <a:blipFill>
            <a:blip r:embed="rId2"/>
            <a:stretch>
              <a:fillRect l="-4149" r="-750"/>
            </a:stretch>
          </a:blipFill>
        </p:spPr>
      </p:sp>
      <p:sp>
        <p:nvSpPr>
          <p:cNvPr id="3" name="TextBox 3"/>
          <p:cNvSpPr txBox="1"/>
          <p:nvPr/>
        </p:nvSpPr>
        <p:spPr>
          <a:xfrm>
            <a:off x="1028700" y="1104900"/>
            <a:ext cx="9804678"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▶Hourly Analysis</a:t>
            </a:r>
          </a:p>
        </p:txBody>
      </p:sp>
      <p:sp>
        <p:nvSpPr>
          <p:cNvPr id="4" name="TextBox 4"/>
          <p:cNvSpPr txBox="1"/>
          <p:nvPr/>
        </p:nvSpPr>
        <p:spPr>
          <a:xfrm>
            <a:off x="753644" y="2532194"/>
            <a:ext cx="6614802" cy="40355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  Peak: 7-9 AM &amp;      5-7 PM</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  Office commute impact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086409" y="2915885"/>
            <a:ext cx="9172891" cy="6055430"/>
          </a:xfrm>
          <a:custGeom>
            <a:avLst/>
            <a:gdLst/>
            <a:ahLst/>
            <a:cxnLst/>
            <a:rect l="l" t="t" r="r" b="b"/>
            <a:pathLst>
              <a:path w="9172891" h="6055430">
                <a:moveTo>
                  <a:pt x="0" y="0"/>
                </a:moveTo>
                <a:lnTo>
                  <a:pt x="9172891" y="0"/>
                </a:lnTo>
                <a:lnTo>
                  <a:pt x="9172891" y="6055430"/>
                </a:lnTo>
                <a:lnTo>
                  <a:pt x="0" y="6055430"/>
                </a:lnTo>
                <a:lnTo>
                  <a:pt x="0" y="0"/>
                </a:lnTo>
                <a:close/>
              </a:path>
            </a:pathLst>
          </a:custGeom>
          <a:blipFill>
            <a:blip r:embed="rId2"/>
            <a:stretch>
              <a:fillRect/>
            </a:stretch>
          </a:blipFill>
        </p:spPr>
      </p:sp>
      <p:sp>
        <p:nvSpPr>
          <p:cNvPr id="3" name="TextBox 3"/>
          <p:cNvSpPr txBox="1"/>
          <p:nvPr/>
        </p:nvSpPr>
        <p:spPr>
          <a:xfrm>
            <a:off x="1028700" y="1104900"/>
            <a:ext cx="9883378"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▶Weather Impact</a:t>
            </a:r>
          </a:p>
        </p:txBody>
      </p:sp>
      <p:sp>
        <p:nvSpPr>
          <p:cNvPr id="4" name="TextBox 4"/>
          <p:cNvSpPr txBox="1"/>
          <p:nvPr/>
        </p:nvSpPr>
        <p:spPr>
          <a:xfrm>
            <a:off x="1028700" y="2953985"/>
            <a:ext cx="6598521" cy="40355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•Rain reduces demand</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•Snow further reduces demand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144000" y="3208969"/>
            <a:ext cx="8258570" cy="6049331"/>
          </a:xfrm>
          <a:custGeom>
            <a:avLst/>
            <a:gdLst/>
            <a:ahLst/>
            <a:cxnLst/>
            <a:rect l="l" t="t" r="r" b="b"/>
            <a:pathLst>
              <a:path w="8258570" h="6049331">
                <a:moveTo>
                  <a:pt x="0" y="0"/>
                </a:moveTo>
                <a:lnTo>
                  <a:pt x="8258570" y="0"/>
                </a:lnTo>
                <a:lnTo>
                  <a:pt x="8258570" y="6049331"/>
                </a:lnTo>
                <a:lnTo>
                  <a:pt x="0" y="6049331"/>
                </a:lnTo>
                <a:lnTo>
                  <a:pt x="0" y="0"/>
                </a:lnTo>
                <a:close/>
              </a:path>
            </a:pathLst>
          </a:custGeom>
          <a:blipFill>
            <a:blip r:embed="rId2"/>
            <a:stretch>
              <a:fillRect/>
            </a:stretch>
          </a:blipFill>
        </p:spPr>
      </p:sp>
      <p:sp>
        <p:nvSpPr>
          <p:cNvPr id="3" name="TextBox 3"/>
          <p:cNvSpPr txBox="1"/>
          <p:nvPr/>
        </p:nvSpPr>
        <p:spPr>
          <a:xfrm>
            <a:off x="1028700" y="1104900"/>
            <a:ext cx="11277124"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▶Advanced Analysis</a:t>
            </a:r>
          </a:p>
        </p:txBody>
      </p:sp>
      <p:sp>
        <p:nvSpPr>
          <p:cNvPr id="4" name="TextBox 4"/>
          <p:cNvSpPr txBox="1"/>
          <p:nvPr/>
        </p:nvSpPr>
        <p:spPr>
          <a:xfrm>
            <a:off x="1028700" y="3247069"/>
            <a:ext cx="7638784" cy="40355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•Highest demand at 6 PM</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•Summer peak season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144000" y="2846942"/>
            <a:ext cx="8161937" cy="6193316"/>
          </a:xfrm>
          <a:custGeom>
            <a:avLst/>
            <a:gdLst/>
            <a:ahLst/>
            <a:cxnLst/>
            <a:rect l="l" t="t" r="r" b="b"/>
            <a:pathLst>
              <a:path w="8161937" h="6193316">
                <a:moveTo>
                  <a:pt x="0" y="0"/>
                </a:moveTo>
                <a:lnTo>
                  <a:pt x="8161937" y="0"/>
                </a:lnTo>
                <a:lnTo>
                  <a:pt x="8161937" y="6193316"/>
                </a:lnTo>
                <a:lnTo>
                  <a:pt x="0" y="6193316"/>
                </a:lnTo>
                <a:lnTo>
                  <a:pt x="0" y="0"/>
                </a:lnTo>
                <a:close/>
              </a:path>
            </a:pathLst>
          </a:custGeom>
          <a:blipFill>
            <a:blip r:embed="rId2"/>
            <a:stretch>
              <a:fillRect/>
            </a:stretch>
          </a:blipFill>
        </p:spPr>
      </p:sp>
      <p:sp>
        <p:nvSpPr>
          <p:cNvPr id="3" name="TextBox 3"/>
          <p:cNvSpPr txBox="1"/>
          <p:nvPr/>
        </p:nvSpPr>
        <p:spPr>
          <a:xfrm>
            <a:off x="829826" y="2885042"/>
            <a:ext cx="8094129" cy="40355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•Non-holidays higher rentals</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•Routine impacts demand</a:t>
            </a:r>
          </a:p>
        </p:txBody>
      </p:sp>
      <p:sp>
        <p:nvSpPr>
          <p:cNvPr id="4" name="TextBox 4"/>
          <p:cNvSpPr txBox="1"/>
          <p:nvPr/>
        </p:nvSpPr>
        <p:spPr>
          <a:xfrm>
            <a:off x="1028700" y="1104900"/>
            <a:ext cx="12911853"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▶Category Comparison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857059" y="3106685"/>
            <a:ext cx="8924390" cy="6151615"/>
          </a:xfrm>
          <a:custGeom>
            <a:avLst/>
            <a:gdLst/>
            <a:ahLst/>
            <a:cxnLst/>
            <a:rect l="l" t="t" r="r" b="b"/>
            <a:pathLst>
              <a:path w="8924390" h="6151615">
                <a:moveTo>
                  <a:pt x="0" y="0"/>
                </a:moveTo>
                <a:lnTo>
                  <a:pt x="8924390" y="0"/>
                </a:lnTo>
                <a:lnTo>
                  <a:pt x="8924390" y="6151615"/>
                </a:lnTo>
                <a:lnTo>
                  <a:pt x="0" y="6151615"/>
                </a:lnTo>
                <a:lnTo>
                  <a:pt x="0" y="0"/>
                </a:lnTo>
                <a:close/>
              </a:path>
            </a:pathLst>
          </a:custGeom>
          <a:blipFill>
            <a:blip r:embed="rId2"/>
            <a:stretch>
              <a:fillRect l="-828" t="-177" r="-2935"/>
            </a:stretch>
          </a:blipFill>
        </p:spPr>
      </p:sp>
      <p:sp>
        <p:nvSpPr>
          <p:cNvPr id="3" name="TextBox 3"/>
          <p:cNvSpPr txBox="1"/>
          <p:nvPr/>
        </p:nvSpPr>
        <p:spPr>
          <a:xfrm>
            <a:off x="1028700" y="1104900"/>
            <a:ext cx="7828359"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▶Key Insights</a:t>
            </a:r>
          </a:p>
        </p:txBody>
      </p:sp>
      <p:sp>
        <p:nvSpPr>
          <p:cNvPr id="4" name="TextBox 4"/>
          <p:cNvSpPr txBox="1"/>
          <p:nvPr/>
        </p:nvSpPr>
        <p:spPr>
          <a:xfrm>
            <a:off x="1028700" y="3144785"/>
            <a:ext cx="7828359" cy="56357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•Peak hours important</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•Weather impacts usage</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•Season matters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79902" y="3106685"/>
            <a:ext cx="10289518" cy="6863887"/>
          </a:xfrm>
          <a:custGeom>
            <a:avLst/>
            <a:gdLst/>
            <a:ahLst/>
            <a:cxnLst/>
            <a:rect l="l" t="t" r="r" b="b"/>
            <a:pathLst>
              <a:path w="10289518" h="6863887">
                <a:moveTo>
                  <a:pt x="0" y="0"/>
                </a:moveTo>
                <a:lnTo>
                  <a:pt x="10289518" y="0"/>
                </a:lnTo>
                <a:lnTo>
                  <a:pt x="10289518" y="6863886"/>
                </a:lnTo>
                <a:lnTo>
                  <a:pt x="0" y="6863886"/>
                </a:lnTo>
                <a:lnTo>
                  <a:pt x="0" y="0"/>
                </a:lnTo>
                <a:close/>
              </a:path>
            </a:pathLst>
          </a:custGeom>
          <a:blipFill>
            <a:blip r:embed="rId2"/>
            <a:stretch>
              <a:fillRect l="-7758" r="-12652"/>
            </a:stretch>
          </a:blipFill>
        </p:spPr>
      </p:sp>
      <p:sp>
        <p:nvSpPr>
          <p:cNvPr id="3" name="TextBox 3"/>
          <p:cNvSpPr txBox="1"/>
          <p:nvPr/>
        </p:nvSpPr>
        <p:spPr>
          <a:xfrm>
            <a:off x="680296" y="994878"/>
            <a:ext cx="11335702"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▶Recommendations</a:t>
            </a:r>
          </a:p>
        </p:txBody>
      </p:sp>
      <p:sp>
        <p:nvSpPr>
          <p:cNvPr id="4" name="TextBox 4"/>
          <p:cNvSpPr txBox="1"/>
          <p:nvPr/>
        </p:nvSpPr>
        <p:spPr>
          <a:xfrm>
            <a:off x="680296" y="3144785"/>
            <a:ext cx="6852909" cy="64358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•Increase bikes in peak hours</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•More bikes in summer</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•Offers in low demand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231981" y="2936551"/>
            <a:ext cx="9339049" cy="6505119"/>
          </a:xfrm>
          <a:custGeom>
            <a:avLst/>
            <a:gdLst/>
            <a:ahLst/>
            <a:cxnLst/>
            <a:rect l="l" t="t" r="r" b="b"/>
            <a:pathLst>
              <a:path w="9339049" h="6505119">
                <a:moveTo>
                  <a:pt x="0" y="0"/>
                </a:moveTo>
                <a:lnTo>
                  <a:pt x="9339049" y="0"/>
                </a:lnTo>
                <a:lnTo>
                  <a:pt x="9339049" y="6505120"/>
                </a:lnTo>
                <a:lnTo>
                  <a:pt x="0" y="6505120"/>
                </a:lnTo>
                <a:lnTo>
                  <a:pt x="0" y="0"/>
                </a:lnTo>
                <a:close/>
              </a:path>
            </a:pathLst>
          </a:custGeom>
          <a:blipFill>
            <a:blip r:embed="rId2"/>
            <a:stretch>
              <a:fillRect l="-4752" t="-202" b="-202"/>
            </a:stretch>
          </a:blipFill>
        </p:spPr>
      </p:sp>
      <p:sp>
        <p:nvSpPr>
          <p:cNvPr id="3" name="TextBox 3"/>
          <p:cNvSpPr txBox="1"/>
          <p:nvPr/>
        </p:nvSpPr>
        <p:spPr>
          <a:xfrm>
            <a:off x="1028700" y="1104900"/>
            <a:ext cx="7203281" cy="1191998"/>
          </a:xfrm>
          <a:prstGeom prst="rect">
            <a:avLst/>
          </a:prstGeom>
        </p:spPr>
        <p:txBody>
          <a:bodyPr lIns="0" tIns="0" rIns="0" bIns="0" rtlCol="0" anchor="t">
            <a:spAutoFit/>
          </a:bodyPr>
          <a:lstStyle/>
          <a:p>
            <a:pPr algn="ctr">
              <a:lnSpc>
                <a:spcPts val="9193"/>
              </a:lnSpc>
              <a:spcBef>
                <a:spcPct val="0"/>
              </a:spcBef>
            </a:pPr>
            <a:r>
              <a:rPr lang="en-US" sz="8358" b="1">
                <a:solidFill>
                  <a:srgbClr val="FFFFFF"/>
                </a:solidFill>
                <a:latin typeface="Georgia Pro Bold"/>
                <a:ea typeface="Georgia Pro Bold"/>
                <a:cs typeface="Georgia Pro Bold"/>
                <a:sym typeface="Georgia Pro Bold"/>
              </a:rPr>
              <a:t>▶Conclusion</a:t>
            </a:r>
          </a:p>
        </p:txBody>
      </p:sp>
      <p:sp>
        <p:nvSpPr>
          <p:cNvPr id="4" name="TextBox 4"/>
          <p:cNvSpPr txBox="1"/>
          <p:nvPr/>
        </p:nvSpPr>
        <p:spPr>
          <a:xfrm>
            <a:off x="1028700" y="2974651"/>
            <a:ext cx="6433125" cy="4035531"/>
          </a:xfrm>
          <a:prstGeom prst="rect">
            <a:avLst/>
          </a:prstGeom>
        </p:spPr>
        <p:txBody>
          <a:bodyPr lIns="0" tIns="0" rIns="0" bIns="0" rtlCol="0" anchor="t">
            <a:spAutoFit/>
          </a:bodyPr>
          <a:lstStyle/>
          <a:p>
            <a:pPr algn="l">
              <a:lnSpc>
                <a:spcPts val="6334"/>
              </a:lnSpc>
              <a:spcBef>
                <a:spcPct val="0"/>
              </a:spcBef>
            </a:pPr>
            <a:r>
              <a:rPr lang="en-US" sz="5758" b="1">
                <a:solidFill>
                  <a:srgbClr val="000000"/>
                </a:solidFill>
                <a:latin typeface="Georgia Pro Bold"/>
                <a:ea typeface="Georgia Pro Bold"/>
                <a:cs typeface="Georgia Pro Bold"/>
                <a:sym typeface="Georgia Pro Bold"/>
              </a:rPr>
              <a:t>•Weather &amp; time affect demand</a:t>
            </a:r>
          </a:p>
          <a:p>
            <a:pPr algn="l">
              <a:lnSpc>
                <a:spcPts val="6334"/>
              </a:lnSpc>
              <a:spcBef>
                <a:spcPct val="0"/>
              </a:spcBef>
            </a:pPr>
            <a:endParaRPr lang="en-US" sz="5758" b="1">
              <a:solidFill>
                <a:srgbClr val="000000"/>
              </a:solidFill>
              <a:latin typeface="Georgia Pro Bold"/>
              <a:ea typeface="Georgia Pro Bold"/>
              <a:cs typeface="Georgia Pro Bold"/>
              <a:sym typeface="Georgia Pro Bold"/>
            </a:endParaRPr>
          </a:p>
          <a:p>
            <a:pPr algn="l">
              <a:lnSpc>
                <a:spcPts val="6334"/>
              </a:lnSpc>
              <a:spcBef>
                <a:spcPct val="0"/>
              </a:spcBef>
            </a:pPr>
            <a:r>
              <a:rPr lang="en-US" sz="5758" b="1">
                <a:solidFill>
                  <a:srgbClr val="000000"/>
                </a:solidFill>
                <a:latin typeface="Georgia Pro Bold"/>
                <a:ea typeface="Georgia Pro Bold"/>
                <a:cs typeface="Georgia Pro Bold"/>
                <a:sym typeface="Georgia Pro Bold"/>
              </a:rPr>
              <a:t>•Use data for better decisions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0" y="4081029"/>
            <a:ext cx="18029737" cy="2915984"/>
          </a:xfrm>
          <a:prstGeom prst="rect">
            <a:avLst/>
          </a:prstGeom>
        </p:spPr>
        <p:txBody>
          <a:bodyPr lIns="0" tIns="0" rIns="0" bIns="0" rtlCol="0" anchor="t">
            <a:spAutoFit/>
          </a:bodyPr>
          <a:lstStyle/>
          <a:p>
            <a:pPr algn="ctr">
              <a:lnSpc>
                <a:spcPts val="22390"/>
              </a:lnSpc>
              <a:spcBef>
                <a:spcPct val="0"/>
              </a:spcBef>
            </a:pPr>
            <a:r>
              <a:rPr lang="en-US" sz="20355" dirty="0">
                <a:gradFill>
                  <a:gsLst>
                    <a:gs pos="0">
                      <a:srgbClr val="FFF7AD">
                        <a:alpha val="100000"/>
                      </a:srgbClr>
                    </a:gs>
                    <a:gs pos="100000">
                      <a:srgbClr val="FFA9F9">
                        <a:alpha val="100000"/>
                      </a:srgbClr>
                    </a:gs>
                  </a:gsLst>
                  <a:lin ang="0"/>
                </a:gradFill>
                <a:latin typeface="Georgia Pro"/>
                <a:ea typeface="Georgia Pro"/>
                <a:cs typeface="Georgia Pro"/>
                <a:sym typeface="Georgia Pr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1063</Words>
  <Application>Microsoft Office PowerPoint</Application>
  <PresentationFormat>Custom</PresentationFormat>
  <Paragraphs>142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DM Sans Bold</vt:lpstr>
      <vt:lpstr>Georgia Pro Bold</vt:lpstr>
      <vt:lpstr>Arial</vt:lpstr>
      <vt:lpstr>Calibri</vt:lpstr>
      <vt:lpstr>Georgia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Y2K Cute 3D Travel Guide: Seoul</dc:title>
  <cp:lastModifiedBy>Pallavi Kale</cp:lastModifiedBy>
  <cp:revision>4</cp:revision>
  <dcterms:created xsi:type="dcterms:W3CDTF">2006-08-16T00:00:00Z</dcterms:created>
  <dcterms:modified xsi:type="dcterms:W3CDTF">2026-03-23T17:47:46Z</dcterms:modified>
  <dc:identifier>DAHEsvlePhw</dc:identifier>
</cp:coreProperties>
</file>